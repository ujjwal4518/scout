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4" r:id="rId9"/>
    <p:sldId id="265" r:id="rId10"/>
    <p:sldId id="266" r:id="rId11"/>
    <p:sldId id="267" r:id="rId12"/>
    <p:sldId id="272" r:id="rId13"/>
    <p:sldId id="271" r:id="rId14"/>
    <p:sldId id="268" r:id="rId15"/>
    <p:sldId id="269" r:id="rId16"/>
    <p:sldId id="270" r:id="rId17"/>
  </p:sldIdLst>
  <p:sldSz cx="18288000" cy="10287000"/>
  <p:notesSz cx="6858000" cy="9144000"/>
  <p:embeddedFontLst>
    <p:embeddedFont>
      <p:font typeface="Roboto" panose="02000000000000000000" pitchFamily="2" charset="0"/>
      <p:regular r:id="rId19"/>
    </p:embeddedFont>
    <p:embeddedFont>
      <p:font typeface="Roboto Slab" pitchFamily="2" charset="0"/>
      <p:regular r:id="rId20"/>
      <p:bold r:id="rId21"/>
    </p:embeddedFont>
    <p:embeddedFont>
      <p:font typeface="Roboto Slab Bold"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33" d="100"/>
          <a:sy n="33" d="100"/>
        </p:scale>
        <p:origin x="1300" y="4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05.05.2026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7.xml"/><Relationship Id="rId4" Type="http://schemas.openxmlformats.org/officeDocument/2006/relationships/image" Target="../media/image1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DF1F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BFCFE"/>
            </a:solidFill>
          </p:spPr>
        </p:sp>
      </p:grpSp>
      <p:sp>
        <p:nvSpPr>
          <p:cNvPr id="6" name="Freeform 6" descr="preencoded.png"/>
          <p:cNvSpPr/>
          <p:nvPr/>
        </p:nvSpPr>
        <p:spPr>
          <a:xfrm>
            <a:off x="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sp>
        <p:nvSpPr>
          <p:cNvPr id="7" name="TextBox 7"/>
          <p:cNvSpPr txBox="1"/>
          <p:nvPr/>
        </p:nvSpPr>
        <p:spPr>
          <a:xfrm>
            <a:off x="7531482" y="1000125"/>
            <a:ext cx="9445526" cy="3551742"/>
          </a:xfrm>
          <a:prstGeom prst="rect">
            <a:avLst/>
          </a:prstGeom>
        </p:spPr>
        <p:txBody>
          <a:bodyPr lIns="0" tIns="0" rIns="0" bIns="0" rtlCol="0" anchor="t">
            <a:spAutoFit/>
          </a:bodyPr>
          <a:lstStyle/>
          <a:p>
            <a:pPr algn="l">
              <a:lnSpc>
                <a:spcPts val="9374"/>
              </a:lnSpc>
            </a:pPr>
            <a:r>
              <a:rPr lang="en-US" sz="7487" dirty="0">
                <a:solidFill>
                  <a:srgbClr val="3257B8"/>
                </a:solidFill>
                <a:latin typeface="Roboto Slab"/>
                <a:ea typeface="Roboto Slab"/>
                <a:cs typeface="Roboto Slab"/>
                <a:sym typeface="Roboto Slab"/>
              </a:rPr>
              <a:t>SCOUT : Smart Camera Observation &amp; Unusual Tracking</a:t>
            </a:r>
          </a:p>
        </p:txBody>
      </p:sp>
      <p:sp>
        <p:nvSpPr>
          <p:cNvPr id="8" name="TextBox 8"/>
          <p:cNvSpPr txBox="1"/>
          <p:nvPr/>
        </p:nvSpPr>
        <p:spPr>
          <a:xfrm>
            <a:off x="7531482" y="5394001"/>
            <a:ext cx="9445526" cy="2409146"/>
          </a:xfrm>
          <a:prstGeom prst="rect">
            <a:avLst/>
          </a:prstGeom>
        </p:spPr>
        <p:txBody>
          <a:bodyPr lIns="0" tIns="0" rIns="0" bIns="0" rtlCol="0" anchor="t">
            <a:spAutoFit/>
          </a:bodyPr>
          <a:lstStyle/>
          <a:p>
            <a:pPr algn="l">
              <a:lnSpc>
                <a:spcPts val="4865"/>
              </a:lnSpc>
            </a:pPr>
            <a:r>
              <a:rPr lang="en-US" sz="2987">
                <a:solidFill>
                  <a:srgbClr val="15213F"/>
                </a:solidFill>
                <a:latin typeface="Roboto"/>
                <a:ea typeface="Roboto"/>
                <a:cs typeface="Roboto"/>
                <a:sym typeface="Roboto"/>
              </a:rPr>
              <a:t>SCOUT is an innovative home security system that leverages advanced AI algorithms to provide comprehensive real-time protection for your home and family.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DF1F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BFCFE"/>
            </a:solidFill>
          </p:spPr>
        </p:sp>
      </p:grpSp>
      <p:sp>
        <p:nvSpPr>
          <p:cNvPr id="6" name="TextBox 6"/>
          <p:cNvSpPr txBox="1"/>
          <p:nvPr/>
        </p:nvSpPr>
        <p:spPr>
          <a:xfrm>
            <a:off x="4421237" y="434314"/>
            <a:ext cx="9445526" cy="1160196"/>
          </a:xfrm>
          <a:prstGeom prst="rect">
            <a:avLst/>
          </a:prstGeom>
        </p:spPr>
        <p:txBody>
          <a:bodyPr lIns="0" tIns="0" rIns="0" bIns="0" rtlCol="0" anchor="t">
            <a:spAutoFit/>
          </a:bodyPr>
          <a:lstStyle/>
          <a:p>
            <a:pPr algn="l">
              <a:lnSpc>
                <a:spcPts val="9374"/>
              </a:lnSpc>
            </a:pPr>
            <a:r>
              <a:rPr lang="en-US" sz="7487">
                <a:solidFill>
                  <a:srgbClr val="3257B8"/>
                </a:solidFill>
                <a:latin typeface="Roboto Slab"/>
                <a:ea typeface="Roboto Slab"/>
                <a:cs typeface="Roboto Slab"/>
                <a:sym typeface="Roboto Slab"/>
              </a:rPr>
              <a:t>Problem Statement</a:t>
            </a:r>
          </a:p>
        </p:txBody>
      </p:sp>
      <p:sp>
        <p:nvSpPr>
          <p:cNvPr id="7" name="TextBox 7"/>
          <p:cNvSpPr txBox="1"/>
          <p:nvPr/>
        </p:nvSpPr>
        <p:spPr>
          <a:xfrm>
            <a:off x="1851836" y="1634952"/>
            <a:ext cx="15213893" cy="8340701"/>
          </a:xfrm>
          <a:prstGeom prst="rect">
            <a:avLst/>
          </a:prstGeom>
        </p:spPr>
        <p:txBody>
          <a:bodyPr lIns="0" tIns="0" rIns="0" bIns="0" rtlCol="0" anchor="t">
            <a:spAutoFit/>
          </a:bodyPr>
          <a:lstStyle/>
          <a:p>
            <a:pPr algn="l">
              <a:lnSpc>
                <a:spcPts val="6650"/>
              </a:lnSpc>
            </a:pPr>
            <a:r>
              <a:rPr lang="en-US" sz="4083">
                <a:solidFill>
                  <a:srgbClr val="15213F"/>
                </a:solidFill>
                <a:latin typeface="Roboto"/>
                <a:ea typeface="Roboto"/>
                <a:cs typeface="Roboto"/>
                <a:sym typeface="Roboto"/>
              </a:rPr>
              <a:t>Traditional home security systems often lack advanced intelligence, leading to excessive false alarms, inefficient recording, and insufficient emergency detection capabilities. Moreover, many systems fail to address critical safety concerns like fall detection for the elderly or rapid fire detection, leaving homes vulnerable. With the increasing need for personalized, proactive, and privacy-focused solutions, there is a gap in the market for a system that integrates real-time surveillance, smart detection, and emergency response while ensuring user privacy and adaptability to modern smart home environments.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DF1F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BFCFE"/>
            </a:solidFill>
          </p:spPr>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DF1F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BFCFE"/>
            </a:solidFill>
          </p:spPr>
        </p:sp>
      </p:grpSp>
      <p:sp>
        <p:nvSpPr>
          <p:cNvPr id="6" name="Freeform 6" descr="preencoded.png"/>
          <p:cNvSpPr/>
          <p:nvPr/>
        </p:nvSpPr>
        <p:spPr>
          <a:xfrm>
            <a:off x="1143000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sp>
        <p:nvSpPr>
          <p:cNvPr id="7" name="TextBox 7"/>
          <p:cNvSpPr txBox="1"/>
          <p:nvPr/>
        </p:nvSpPr>
        <p:spPr>
          <a:xfrm>
            <a:off x="992238" y="1585912"/>
            <a:ext cx="8298061" cy="905024"/>
          </a:xfrm>
          <a:prstGeom prst="rect">
            <a:avLst/>
          </a:prstGeom>
        </p:spPr>
        <p:txBody>
          <a:bodyPr lIns="0" tIns="0" rIns="0" bIns="0" rtlCol="0" anchor="t">
            <a:spAutoFit/>
          </a:bodyPr>
          <a:lstStyle/>
          <a:p>
            <a:pPr algn="l">
              <a:lnSpc>
                <a:spcPts val="6937"/>
              </a:lnSpc>
            </a:pPr>
            <a:r>
              <a:rPr lang="en-US" sz="5562">
                <a:solidFill>
                  <a:srgbClr val="3257B8"/>
                </a:solidFill>
                <a:latin typeface="Roboto Slab"/>
                <a:ea typeface="Roboto Slab"/>
                <a:cs typeface="Roboto Slab"/>
                <a:sym typeface="Roboto Slab"/>
              </a:rPr>
              <a:t>Advanced AI Algorithms</a:t>
            </a:r>
          </a:p>
        </p:txBody>
      </p:sp>
      <p:grpSp>
        <p:nvGrpSpPr>
          <p:cNvPr id="8" name="Group 8"/>
          <p:cNvGrpSpPr/>
          <p:nvPr/>
        </p:nvGrpSpPr>
        <p:grpSpPr>
          <a:xfrm>
            <a:off x="992238" y="3235077"/>
            <a:ext cx="637878" cy="637878"/>
            <a:chOff x="0" y="0"/>
            <a:chExt cx="850503" cy="850503"/>
          </a:xfrm>
        </p:grpSpPr>
        <p:sp>
          <p:nvSpPr>
            <p:cNvPr id="9" name="Freeform 9"/>
            <p:cNvSpPr/>
            <p:nvPr/>
          </p:nvSpPr>
          <p:spPr>
            <a:xfrm>
              <a:off x="0" y="0"/>
              <a:ext cx="850392" cy="850519"/>
            </a:xfrm>
            <a:custGeom>
              <a:avLst/>
              <a:gdLst/>
              <a:ahLst/>
              <a:cxnLst/>
              <a:rect l="l" t="t" r="r" b="b"/>
              <a:pathLst>
                <a:path w="850392" h="850519">
                  <a:moveTo>
                    <a:pt x="0" y="56642"/>
                  </a:moveTo>
                  <a:cubicBezTo>
                    <a:pt x="0" y="25400"/>
                    <a:pt x="25400" y="0"/>
                    <a:pt x="56642" y="0"/>
                  </a:cubicBezTo>
                  <a:lnTo>
                    <a:pt x="793750" y="0"/>
                  </a:lnTo>
                  <a:cubicBezTo>
                    <a:pt x="825119" y="0"/>
                    <a:pt x="850392" y="25400"/>
                    <a:pt x="850392" y="56642"/>
                  </a:cubicBezTo>
                  <a:lnTo>
                    <a:pt x="850392" y="793750"/>
                  </a:lnTo>
                  <a:cubicBezTo>
                    <a:pt x="850392" y="825119"/>
                    <a:pt x="824992" y="850392"/>
                    <a:pt x="793750" y="850392"/>
                  </a:cubicBezTo>
                  <a:lnTo>
                    <a:pt x="56642" y="850392"/>
                  </a:lnTo>
                  <a:cubicBezTo>
                    <a:pt x="25400" y="850519"/>
                    <a:pt x="0" y="825119"/>
                    <a:pt x="0" y="793750"/>
                  </a:cubicBezTo>
                  <a:close/>
                </a:path>
              </a:pathLst>
            </a:custGeom>
            <a:solidFill>
              <a:srgbClr val="E9ECF2"/>
            </a:solidFill>
          </p:spPr>
        </p:sp>
      </p:grpSp>
      <p:sp>
        <p:nvSpPr>
          <p:cNvPr id="10" name="TextBox 10"/>
          <p:cNvSpPr txBox="1"/>
          <p:nvPr/>
        </p:nvSpPr>
        <p:spPr>
          <a:xfrm>
            <a:off x="1223516" y="3398490"/>
            <a:ext cx="175320" cy="368201"/>
          </a:xfrm>
          <a:prstGeom prst="rect">
            <a:avLst/>
          </a:prstGeom>
        </p:spPr>
        <p:txBody>
          <a:bodyPr lIns="0" tIns="0" rIns="0" bIns="0" rtlCol="0" anchor="t">
            <a:spAutoFit/>
          </a:bodyPr>
          <a:lstStyle/>
          <a:p>
            <a:pPr algn="ctr">
              <a:lnSpc>
                <a:spcPts val="3312"/>
              </a:lnSpc>
            </a:pPr>
            <a:r>
              <a:rPr lang="en-US" sz="3312">
                <a:solidFill>
                  <a:srgbClr val="15213F"/>
                </a:solidFill>
                <a:latin typeface="Roboto Slab"/>
                <a:ea typeface="Roboto Slab"/>
                <a:cs typeface="Roboto Slab"/>
                <a:sym typeface="Roboto Slab"/>
              </a:rPr>
              <a:t>1</a:t>
            </a:r>
          </a:p>
        </p:txBody>
      </p:sp>
      <p:sp>
        <p:nvSpPr>
          <p:cNvPr id="11" name="TextBox 11"/>
          <p:cNvSpPr txBox="1"/>
          <p:nvPr/>
        </p:nvSpPr>
        <p:spPr>
          <a:xfrm>
            <a:off x="1913632" y="3216027"/>
            <a:ext cx="3659684" cy="904875"/>
          </a:xfrm>
          <a:prstGeom prst="rect">
            <a:avLst/>
          </a:prstGeom>
        </p:spPr>
        <p:txBody>
          <a:bodyPr lIns="0" tIns="0" rIns="0" bIns="0" rtlCol="0" anchor="t">
            <a:spAutoFit/>
          </a:bodyPr>
          <a:lstStyle/>
          <a:p>
            <a:pPr algn="l">
              <a:lnSpc>
                <a:spcPts val="3437"/>
              </a:lnSpc>
            </a:pPr>
            <a:r>
              <a:rPr lang="en-US" sz="2750">
                <a:solidFill>
                  <a:srgbClr val="15213F"/>
                </a:solidFill>
                <a:latin typeface="Roboto Slab"/>
                <a:ea typeface="Roboto Slab"/>
                <a:cs typeface="Roboto Slab"/>
                <a:sym typeface="Roboto Slab"/>
              </a:rPr>
              <a:t>Accurate Threat Detection</a:t>
            </a:r>
          </a:p>
        </p:txBody>
      </p:sp>
      <p:sp>
        <p:nvSpPr>
          <p:cNvPr id="12" name="TextBox 12"/>
          <p:cNvSpPr txBox="1"/>
          <p:nvPr/>
        </p:nvSpPr>
        <p:spPr>
          <a:xfrm>
            <a:off x="1913632" y="4195762"/>
            <a:ext cx="3659684" cy="2363391"/>
          </a:xfrm>
          <a:prstGeom prst="rect">
            <a:avLst/>
          </a:prstGeom>
        </p:spPr>
        <p:txBody>
          <a:bodyPr lIns="0" tIns="0" rIns="0" bIns="0" rtlCol="0" anchor="t">
            <a:spAutoFit/>
          </a:bodyPr>
          <a:lstStyle/>
          <a:p>
            <a:pPr algn="l">
              <a:lnSpc>
                <a:spcPts val="3562"/>
              </a:lnSpc>
            </a:pPr>
            <a:r>
              <a:rPr lang="en-US" sz="2187">
                <a:solidFill>
                  <a:srgbClr val="15213F"/>
                </a:solidFill>
                <a:latin typeface="Roboto"/>
                <a:ea typeface="Roboto"/>
                <a:cs typeface="Roboto"/>
                <a:sym typeface="Roboto"/>
              </a:rPr>
              <a:t>SCOUT's AI-powered algorithms quickly and precisely identify potential threats, minimizing false alarms.</a:t>
            </a:r>
          </a:p>
        </p:txBody>
      </p:sp>
      <p:grpSp>
        <p:nvGrpSpPr>
          <p:cNvPr id="13" name="Group 13"/>
          <p:cNvGrpSpPr/>
          <p:nvPr/>
        </p:nvGrpSpPr>
        <p:grpSpPr>
          <a:xfrm>
            <a:off x="5856834" y="3235077"/>
            <a:ext cx="637878" cy="637878"/>
            <a:chOff x="0" y="0"/>
            <a:chExt cx="850503" cy="850503"/>
          </a:xfrm>
        </p:grpSpPr>
        <p:sp>
          <p:nvSpPr>
            <p:cNvPr id="14" name="Freeform 14"/>
            <p:cNvSpPr/>
            <p:nvPr/>
          </p:nvSpPr>
          <p:spPr>
            <a:xfrm>
              <a:off x="0" y="0"/>
              <a:ext cx="850392" cy="850519"/>
            </a:xfrm>
            <a:custGeom>
              <a:avLst/>
              <a:gdLst/>
              <a:ahLst/>
              <a:cxnLst/>
              <a:rect l="l" t="t" r="r" b="b"/>
              <a:pathLst>
                <a:path w="850392" h="850519">
                  <a:moveTo>
                    <a:pt x="0" y="56642"/>
                  </a:moveTo>
                  <a:cubicBezTo>
                    <a:pt x="0" y="25400"/>
                    <a:pt x="25400" y="0"/>
                    <a:pt x="56642" y="0"/>
                  </a:cubicBezTo>
                  <a:lnTo>
                    <a:pt x="793750" y="0"/>
                  </a:lnTo>
                  <a:cubicBezTo>
                    <a:pt x="825119" y="0"/>
                    <a:pt x="850392" y="25400"/>
                    <a:pt x="850392" y="56642"/>
                  </a:cubicBezTo>
                  <a:lnTo>
                    <a:pt x="850392" y="793750"/>
                  </a:lnTo>
                  <a:cubicBezTo>
                    <a:pt x="850392" y="825119"/>
                    <a:pt x="824992" y="850392"/>
                    <a:pt x="793750" y="850392"/>
                  </a:cubicBezTo>
                  <a:lnTo>
                    <a:pt x="56642" y="850392"/>
                  </a:lnTo>
                  <a:cubicBezTo>
                    <a:pt x="25400" y="850519"/>
                    <a:pt x="0" y="825119"/>
                    <a:pt x="0" y="793750"/>
                  </a:cubicBezTo>
                  <a:close/>
                </a:path>
              </a:pathLst>
            </a:custGeom>
            <a:solidFill>
              <a:srgbClr val="E9ECF2"/>
            </a:solidFill>
          </p:spPr>
        </p:sp>
      </p:grpSp>
      <p:sp>
        <p:nvSpPr>
          <p:cNvPr id="15" name="TextBox 15"/>
          <p:cNvSpPr txBox="1"/>
          <p:nvPr/>
        </p:nvSpPr>
        <p:spPr>
          <a:xfrm>
            <a:off x="6058346" y="3398490"/>
            <a:ext cx="234851" cy="368201"/>
          </a:xfrm>
          <a:prstGeom prst="rect">
            <a:avLst/>
          </a:prstGeom>
        </p:spPr>
        <p:txBody>
          <a:bodyPr lIns="0" tIns="0" rIns="0" bIns="0" rtlCol="0" anchor="t">
            <a:spAutoFit/>
          </a:bodyPr>
          <a:lstStyle/>
          <a:p>
            <a:pPr algn="ctr">
              <a:lnSpc>
                <a:spcPts val="3312"/>
              </a:lnSpc>
            </a:pPr>
            <a:r>
              <a:rPr lang="en-US" sz="3312">
                <a:solidFill>
                  <a:srgbClr val="15213F"/>
                </a:solidFill>
                <a:latin typeface="Roboto Slab"/>
                <a:ea typeface="Roboto Slab"/>
                <a:cs typeface="Roboto Slab"/>
                <a:sym typeface="Roboto Slab"/>
              </a:rPr>
              <a:t>2</a:t>
            </a:r>
          </a:p>
        </p:txBody>
      </p:sp>
      <p:sp>
        <p:nvSpPr>
          <p:cNvPr id="16" name="TextBox 16"/>
          <p:cNvSpPr txBox="1"/>
          <p:nvPr/>
        </p:nvSpPr>
        <p:spPr>
          <a:xfrm>
            <a:off x="6778229" y="3216027"/>
            <a:ext cx="3544044" cy="461962"/>
          </a:xfrm>
          <a:prstGeom prst="rect">
            <a:avLst/>
          </a:prstGeom>
        </p:spPr>
        <p:txBody>
          <a:bodyPr lIns="0" tIns="0" rIns="0" bIns="0" rtlCol="0" anchor="t">
            <a:spAutoFit/>
          </a:bodyPr>
          <a:lstStyle/>
          <a:p>
            <a:pPr algn="l">
              <a:lnSpc>
                <a:spcPts val="3437"/>
              </a:lnSpc>
            </a:pPr>
            <a:r>
              <a:rPr lang="en-US" sz="2750">
                <a:solidFill>
                  <a:srgbClr val="15213F"/>
                </a:solidFill>
                <a:latin typeface="Roboto Slab"/>
                <a:ea typeface="Roboto Slab"/>
                <a:cs typeface="Roboto Slab"/>
                <a:sym typeface="Roboto Slab"/>
              </a:rPr>
              <a:t>Continuous Learning</a:t>
            </a:r>
          </a:p>
        </p:txBody>
      </p:sp>
      <p:sp>
        <p:nvSpPr>
          <p:cNvPr id="17" name="TextBox 17"/>
          <p:cNvSpPr txBox="1"/>
          <p:nvPr/>
        </p:nvSpPr>
        <p:spPr>
          <a:xfrm>
            <a:off x="6778229" y="3752850"/>
            <a:ext cx="3659684" cy="1909762"/>
          </a:xfrm>
          <a:prstGeom prst="rect">
            <a:avLst/>
          </a:prstGeom>
        </p:spPr>
        <p:txBody>
          <a:bodyPr lIns="0" tIns="0" rIns="0" bIns="0" rtlCol="0" anchor="t">
            <a:spAutoFit/>
          </a:bodyPr>
          <a:lstStyle/>
          <a:p>
            <a:pPr algn="l">
              <a:lnSpc>
                <a:spcPts val="3562"/>
              </a:lnSpc>
            </a:pPr>
            <a:r>
              <a:rPr lang="en-US" sz="2187">
                <a:solidFill>
                  <a:srgbClr val="15213F"/>
                </a:solidFill>
                <a:latin typeface="Roboto"/>
                <a:ea typeface="Roboto"/>
                <a:cs typeface="Roboto"/>
                <a:sym typeface="Roboto"/>
              </a:rPr>
              <a:t>SCOUT's machine learning models adapt and improve over time, enhancing its threat detection capabilities.</a:t>
            </a:r>
          </a:p>
        </p:txBody>
      </p:sp>
      <p:grpSp>
        <p:nvGrpSpPr>
          <p:cNvPr id="18" name="Group 18"/>
          <p:cNvGrpSpPr/>
          <p:nvPr/>
        </p:nvGrpSpPr>
        <p:grpSpPr>
          <a:xfrm>
            <a:off x="992238" y="7161610"/>
            <a:ext cx="637878" cy="637877"/>
            <a:chOff x="0" y="0"/>
            <a:chExt cx="850503" cy="850503"/>
          </a:xfrm>
        </p:grpSpPr>
        <p:sp>
          <p:nvSpPr>
            <p:cNvPr id="19" name="Freeform 19"/>
            <p:cNvSpPr/>
            <p:nvPr/>
          </p:nvSpPr>
          <p:spPr>
            <a:xfrm>
              <a:off x="0" y="0"/>
              <a:ext cx="850392" cy="850519"/>
            </a:xfrm>
            <a:custGeom>
              <a:avLst/>
              <a:gdLst/>
              <a:ahLst/>
              <a:cxnLst/>
              <a:rect l="l" t="t" r="r" b="b"/>
              <a:pathLst>
                <a:path w="850392" h="850519">
                  <a:moveTo>
                    <a:pt x="0" y="56642"/>
                  </a:moveTo>
                  <a:cubicBezTo>
                    <a:pt x="0" y="25400"/>
                    <a:pt x="25400" y="0"/>
                    <a:pt x="56642" y="0"/>
                  </a:cubicBezTo>
                  <a:lnTo>
                    <a:pt x="793750" y="0"/>
                  </a:lnTo>
                  <a:cubicBezTo>
                    <a:pt x="825119" y="0"/>
                    <a:pt x="850392" y="25400"/>
                    <a:pt x="850392" y="56642"/>
                  </a:cubicBezTo>
                  <a:lnTo>
                    <a:pt x="850392" y="793750"/>
                  </a:lnTo>
                  <a:cubicBezTo>
                    <a:pt x="850392" y="825119"/>
                    <a:pt x="824992" y="850392"/>
                    <a:pt x="793750" y="850392"/>
                  </a:cubicBezTo>
                  <a:lnTo>
                    <a:pt x="56642" y="850392"/>
                  </a:lnTo>
                  <a:cubicBezTo>
                    <a:pt x="25400" y="850519"/>
                    <a:pt x="0" y="825119"/>
                    <a:pt x="0" y="793750"/>
                  </a:cubicBezTo>
                  <a:close/>
                </a:path>
              </a:pathLst>
            </a:custGeom>
            <a:solidFill>
              <a:srgbClr val="E9ECF2"/>
            </a:solidFill>
          </p:spPr>
        </p:sp>
      </p:grpSp>
      <p:sp>
        <p:nvSpPr>
          <p:cNvPr id="20" name="TextBox 20"/>
          <p:cNvSpPr txBox="1"/>
          <p:nvPr/>
        </p:nvSpPr>
        <p:spPr>
          <a:xfrm>
            <a:off x="1196280" y="7325022"/>
            <a:ext cx="229641" cy="368201"/>
          </a:xfrm>
          <a:prstGeom prst="rect">
            <a:avLst/>
          </a:prstGeom>
        </p:spPr>
        <p:txBody>
          <a:bodyPr lIns="0" tIns="0" rIns="0" bIns="0" rtlCol="0" anchor="t">
            <a:spAutoFit/>
          </a:bodyPr>
          <a:lstStyle/>
          <a:p>
            <a:pPr algn="ctr">
              <a:lnSpc>
                <a:spcPts val="3312"/>
              </a:lnSpc>
            </a:pPr>
            <a:r>
              <a:rPr lang="en-US" sz="3312">
                <a:solidFill>
                  <a:srgbClr val="15213F"/>
                </a:solidFill>
                <a:latin typeface="Roboto Slab"/>
                <a:ea typeface="Roboto Slab"/>
                <a:cs typeface="Roboto Slab"/>
                <a:sym typeface="Roboto Slab"/>
              </a:rPr>
              <a:t>3</a:t>
            </a:r>
          </a:p>
        </p:txBody>
      </p:sp>
      <p:sp>
        <p:nvSpPr>
          <p:cNvPr id="21" name="TextBox 21"/>
          <p:cNvSpPr txBox="1"/>
          <p:nvPr/>
        </p:nvSpPr>
        <p:spPr>
          <a:xfrm>
            <a:off x="1913632" y="7142560"/>
            <a:ext cx="3544044" cy="461962"/>
          </a:xfrm>
          <a:prstGeom prst="rect">
            <a:avLst/>
          </a:prstGeom>
        </p:spPr>
        <p:txBody>
          <a:bodyPr lIns="0" tIns="0" rIns="0" bIns="0" rtlCol="0" anchor="t">
            <a:spAutoFit/>
          </a:bodyPr>
          <a:lstStyle/>
          <a:p>
            <a:pPr algn="l">
              <a:lnSpc>
                <a:spcPts val="3437"/>
              </a:lnSpc>
            </a:pPr>
            <a:r>
              <a:rPr lang="en-US" sz="2750">
                <a:solidFill>
                  <a:srgbClr val="15213F"/>
                </a:solidFill>
                <a:latin typeface="Roboto Slab"/>
                <a:ea typeface="Roboto Slab"/>
                <a:cs typeface="Roboto Slab"/>
                <a:sym typeface="Roboto Slab"/>
              </a:rPr>
              <a:t>Customizable Rules</a:t>
            </a:r>
          </a:p>
        </p:txBody>
      </p:sp>
      <p:sp>
        <p:nvSpPr>
          <p:cNvPr id="22" name="TextBox 22"/>
          <p:cNvSpPr txBox="1"/>
          <p:nvPr/>
        </p:nvSpPr>
        <p:spPr>
          <a:xfrm>
            <a:off x="1913632" y="7679382"/>
            <a:ext cx="8524131" cy="1002506"/>
          </a:xfrm>
          <a:prstGeom prst="rect">
            <a:avLst/>
          </a:prstGeom>
        </p:spPr>
        <p:txBody>
          <a:bodyPr lIns="0" tIns="0" rIns="0" bIns="0" rtlCol="0" anchor="t">
            <a:spAutoFit/>
          </a:bodyPr>
          <a:lstStyle/>
          <a:p>
            <a:pPr algn="l">
              <a:lnSpc>
                <a:spcPts val="3562"/>
              </a:lnSpc>
            </a:pPr>
            <a:r>
              <a:rPr lang="en-US" sz="2187">
                <a:solidFill>
                  <a:srgbClr val="15213F"/>
                </a:solidFill>
                <a:latin typeface="Roboto"/>
                <a:ea typeface="Roboto"/>
                <a:cs typeface="Roboto"/>
                <a:sym typeface="Roboto"/>
              </a:rPr>
              <a:t>Tailor SCOUT's monitoring and alert preferences to your unique home environment and preferences.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DF1F8"/>
            </a:solidFill>
          </p:spPr>
        </p:sp>
      </p:grpSp>
      <p:grpSp>
        <p:nvGrpSpPr>
          <p:cNvPr id="4" name="Group 4"/>
          <p:cNvGrpSpPr/>
          <p:nvPr/>
        </p:nvGrpSpPr>
        <p:grpSpPr>
          <a:xfrm>
            <a:off x="0" y="-201866"/>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BFCFE"/>
            </a:solidFill>
          </p:spPr>
        </p:sp>
      </p:grpSp>
      <p:sp>
        <p:nvSpPr>
          <p:cNvPr id="6" name="Freeform 6" descr="preencoded.png"/>
          <p:cNvSpPr/>
          <p:nvPr/>
        </p:nvSpPr>
        <p:spPr>
          <a:xfrm>
            <a:off x="11430000" y="-1935"/>
            <a:ext cx="6858000" cy="10288935"/>
          </a:xfrm>
          <a:custGeom>
            <a:avLst/>
            <a:gdLst/>
            <a:ahLst/>
            <a:cxnLst/>
            <a:rect l="l" t="t" r="r" b="b"/>
            <a:pathLst>
              <a:path w="6858000" h="10288935">
                <a:moveTo>
                  <a:pt x="0" y="0"/>
                </a:moveTo>
                <a:lnTo>
                  <a:pt x="6858000" y="0"/>
                </a:lnTo>
                <a:lnTo>
                  <a:pt x="6858000" y="10288935"/>
                </a:lnTo>
                <a:lnTo>
                  <a:pt x="0" y="10288935"/>
                </a:lnTo>
                <a:lnTo>
                  <a:pt x="0" y="0"/>
                </a:lnTo>
                <a:close/>
              </a:path>
            </a:pathLst>
          </a:custGeom>
          <a:blipFill>
            <a:blip r:embed="rId3"/>
            <a:stretch>
              <a:fillRect l="-9" r="-9"/>
            </a:stretch>
          </a:blipFill>
        </p:spPr>
      </p:sp>
      <p:sp>
        <p:nvSpPr>
          <p:cNvPr id="7" name="TextBox 7"/>
          <p:cNvSpPr txBox="1"/>
          <p:nvPr/>
        </p:nvSpPr>
        <p:spPr>
          <a:xfrm>
            <a:off x="964555" y="729257"/>
            <a:ext cx="9500890" cy="1751111"/>
          </a:xfrm>
          <a:prstGeom prst="rect">
            <a:avLst/>
          </a:prstGeom>
        </p:spPr>
        <p:txBody>
          <a:bodyPr lIns="0" tIns="0" rIns="0" bIns="0" rtlCol="0" anchor="t">
            <a:spAutoFit/>
          </a:bodyPr>
          <a:lstStyle/>
          <a:p>
            <a:pPr algn="l">
              <a:lnSpc>
                <a:spcPts val="6749"/>
              </a:lnSpc>
            </a:pPr>
            <a:r>
              <a:rPr lang="en-US" sz="5374">
                <a:solidFill>
                  <a:srgbClr val="3257B8"/>
                </a:solidFill>
                <a:latin typeface="Roboto Slab"/>
                <a:ea typeface="Roboto Slab"/>
                <a:cs typeface="Roboto Slab"/>
                <a:sym typeface="Roboto Slab"/>
              </a:rPr>
              <a:t>Professional Monitoring and Emergency Response</a:t>
            </a:r>
          </a:p>
        </p:txBody>
      </p:sp>
      <p:grpSp>
        <p:nvGrpSpPr>
          <p:cNvPr id="8" name="Group 8"/>
          <p:cNvGrpSpPr/>
          <p:nvPr/>
        </p:nvGrpSpPr>
        <p:grpSpPr>
          <a:xfrm>
            <a:off x="1649760" y="3494634"/>
            <a:ext cx="964555" cy="38100"/>
            <a:chOff x="0" y="0"/>
            <a:chExt cx="1286073" cy="50800"/>
          </a:xfrm>
        </p:grpSpPr>
        <p:sp>
          <p:nvSpPr>
            <p:cNvPr id="9" name="Freeform 9"/>
            <p:cNvSpPr/>
            <p:nvPr/>
          </p:nvSpPr>
          <p:spPr>
            <a:xfrm>
              <a:off x="0" y="0"/>
              <a:ext cx="1286129" cy="50800"/>
            </a:xfrm>
            <a:custGeom>
              <a:avLst/>
              <a:gdLst/>
              <a:ahLst/>
              <a:cxnLst/>
              <a:rect l="l" t="t" r="r" b="b"/>
              <a:pathLst>
                <a:path w="1286129" h="50800">
                  <a:moveTo>
                    <a:pt x="0" y="25400"/>
                  </a:moveTo>
                  <a:cubicBezTo>
                    <a:pt x="0" y="11430"/>
                    <a:pt x="11430" y="0"/>
                    <a:pt x="25400" y="0"/>
                  </a:cubicBezTo>
                  <a:lnTo>
                    <a:pt x="1260729" y="0"/>
                  </a:lnTo>
                  <a:cubicBezTo>
                    <a:pt x="1274699" y="0"/>
                    <a:pt x="1286129" y="11430"/>
                    <a:pt x="1286129" y="25400"/>
                  </a:cubicBezTo>
                  <a:cubicBezTo>
                    <a:pt x="1286129" y="39370"/>
                    <a:pt x="1274699" y="50800"/>
                    <a:pt x="1260729" y="50800"/>
                  </a:cubicBezTo>
                  <a:lnTo>
                    <a:pt x="25400" y="50800"/>
                  </a:lnTo>
                  <a:cubicBezTo>
                    <a:pt x="11430" y="50800"/>
                    <a:pt x="0" y="39370"/>
                    <a:pt x="0" y="25400"/>
                  </a:cubicBezTo>
                  <a:close/>
                </a:path>
              </a:pathLst>
            </a:custGeom>
            <a:solidFill>
              <a:srgbClr val="CFD2D8"/>
            </a:solidFill>
          </p:spPr>
        </p:sp>
      </p:grpSp>
      <p:grpSp>
        <p:nvGrpSpPr>
          <p:cNvPr id="10" name="Group 10"/>
          <p:cNvGrpSpPr/>
          <p:nvPr/>
        </p:nvGrpSpPr>
        <p:grpSpPr>
          <a:xfrm>
            <a:off x="1067841" y="3203674"/>
            <a:ext cx="620017" cy="620018"/>
            <a:chOff x="0" y="0"/>
            <a:chExt cx="826690" cy="826690"/>
          </a:xfrm>
        </p:grpSpPr>
        <p:sp>
          <p:nvSpPr>
            <p:cNvPr id="11" name="Freeform 11"/>
            <p:cNvSpPr/>
            <p:nvPr/>
          </p:nvSpPr>
          <p:spPr>
            <a:xfrm>
              <a:off x="0" y="0"/>
              <a:ext cx="826643" cy="826643"/>
            </a:xfrm>
            <a:custGeom>
              <a:avLst/>
              <a:gdLst/>
              <a:ahLst/>
              <a:cxnLst/>
              <a:rect l="l" t="t" r="r" b="b"/>
              <a:pathLst>
                <a:path w="826643" h="826643">
                  <a:moveTo>
                    <a:pt x="0" y="55118"/>
                  </a:moveTo>
                  <a:cubicBezTo>
                    <a:pt x="0" y="24638"/>
                    <a:pt x="24638" y="0"/>
                    <a:pt x="55118" y="0"/>
                  </a:cubicBezTo>
                  <a:lnTo>
                    <a:pt x="771525" y="0"/>
                  </a:lnTo>
                  <a:cubicBezTo>
                    <a:pt x="802005" y="0"/>
                    <a:pt x="826643" y="24638"/>
                    <a:pt x="826643" y="55118"/>
                  </a:cubicBezTo>
                  <a:lnTo>
                    <a:pt x="826643" y="771525"/>
                  </a:lnTo>
                  <a:cubicBezTo>
                    <a:pt x="826643" y="802005"/>
                    <a:pt x="802005" y="826643"/>
                    <a:pt x="771525" y="826643"/>
                  </a:cubicBezTo>
                  <a:lnTo>
                    <a:pt x="55118" y="826643"/>
                  </a:lnTo>
                  <a:cubicBezTo>
                    <a:pt x="24638" y="826643"/>
                    <a:pt x="0" y="802005"/>
                    <a:pt x="0" y="771525"/>
                  </a:cubicBezTo>
                  <a:close/>
                </a:path>
              </a:pathLst>
            </a:custGeom>
            <a:solidFill>
              <a:srgbClr val="E9ECF2"/>
            </a:solidFill>
          </p:spPr>
        </p:sp>
      </p:grpSp>
      <p:sp>
        <p:nvSpPr>
          <p:cNvPr id="12" name="TextBox 12"/>
          <p:cNvSpPr txBox="1"/>
          <p:nvPr/>
        </p:nvSpPr>
        <p:spPr>
          <a:xfrm>
            <a:off x="1292572" y="3373636"/>
            <a:ext cx="170409" cy="346770"/>
          </a:xfrm>
          <a:prstGeom prst="rect">
            <a:avLst/>
          </a:prstGeom>
        </p:spPr>
        <p:txBody>
          <a:bodyPr lIns="0" tIns="0" rIns="0" bIns="0" rtlCol="0" anchor="t">
            <a:spAutoFit/>
          </a:bodyPr>
          <a:lstStyle/>
          <a:p>
            <a:pPr algn="ctr">
              <a:lnSpc>
                <a:spcPts val="3250"/>
              </a:lnSpc>
            </a:pPr>
            <a:r>
              <a:rPr lang="en-US" sz="3250">
                <a:solidFill>
                  <a:srgbClr val="15213F"/>
                </a:solidFill>
                <a:latin typeface="Roboto Slab"/>
                <a:ea typeface="Roboto Slab"/>
                <a:cs typeface="Roboto Slab"/>
                <a:sym typeface="Roboto Slab"/>
              </a:rPr>
              <a:t>1</a:t>
            </a:r>
          </a:p>
        </p:txBody>
      </p:sp>
      <p:sp>
        <p:nvSpPr>
          <p:cNvPr id="13" name="TextBox 13"/>
          <p:cNvSpPr txBox="1"/>
          <p:nvPr/>
        </p:nvSpPr>
        <p:spPr>
          <a:xfrm>
            <a:off x="2893665" y="3150096"/>
            <a:ext cx="3445223" cy="546779"/>
          </a:xfrm>
          <a:prstGeom prst="rect">
            <a:avLst/>
          </a:prstGeom>
        </p:spPr>
        <p:txBody>
          <a:bodyPr lIns="0" tIns="0" rIns="0" bIns="0" rtlCol="0" anchor="t">
            <a:spAutoFit/>
          </a:bodyPr>
          <a:lstStyle/>
          <a:p>
            <a:pPr algn="l">
              <a:lnSpc>
                <a:spcPts val="4379"/>
              </a:lnSpc>
            </a:pPr>
            <a:r>
              <a:rPr lang="en-US" sz="3487">
                <a:solidFill>
                  <a:srgbClr val="15213F"/>
                </a:solidFill>
                <a:latin typeface="Roboto Slab"/>
                <a:ea typeface="Roboto Slab"/>
                <a:cs typeface="Roboto Slab"/>
                <a:sym typeface="Roboto Slab"/>
              </a:rPr>
              <a:t>24/7 Monitoring</a:t>
            </a:r>
          </a:p>
        </p:txBody>
      </p:sp>
      <p:sp>
        <p:nvSpPr>
          <p:cNvPr id="14" name="TextBox 14"/>
          <p:cNvSpPr txBox="1"/>
          <p:nvPr/>
        </p:nvSpPr>
        <p:spPr>
          <a:xfrm>
            <a:off x="2893665" y="3899767"/>
            <a:ext cx="7571780" cy="1041867"/>
          </a:xfrm>
          <a:prstGeom prst="rect">
            <a:avLst/>
          </a:prstGeom>
        </p:spPr>
        <p:txBody>
          <a:bodyPr lIns="0" tIns="0" rIns="0" bIns="0" rtlCol="0" anchor="t">
            <a:spAutoFit/>
          </a:bodyPr>
          <a:lstStyle/>
          <a:p>
            <a:pPr algn="l">
              <a:lnSpc>
                <a:spcPts val="4246"/>
              </a:lnSpc>
            </a:pPr>
            <a:r>
              <a:rPr lang="en-US" sz="2624">
                <a:solidFill>
                  <a:srgbClr val="15213F"/>
                </a:solidFill>
                <a:latin typeface="Roboto"/>
                <a:ea typeface="Roboto"/>
                <a:cs typeface="Roboto"/>
                <a:sym typeface="Roboto"/>
              </a:rPr>
              <a:t>SCOUT's professional monitoring service ensures your home is under constant surveillance.</a:t>
            </a:r>
          </a:p>
        </p:txBody>
      </p:sp>
      <p:grpSp>
        <p:nvGrpSpPr>
          <p:cNvPr id="15" name="Group 15"/>
          <p:cNvGrpSpPr/>
          <p:nvPr/>
        </p:nvGrpSpPr>
        <p:grpSpPr>
          <a:xfrm>
            <a:off x="1649760" y="6653557"/>
            <a:ext cx="964555" cy="47625"/>
            <a:chOff x="0" y="0"/>
            <a:chExt cx="1286073" cy="63500"/>
          </a:xfrm>
        </p:grpSpPr>
        <p:sp>
          <p:nvSpPr>
            <p:cNvPr id="16" name="Freeform 16"/>
            <p:cNvSpPr/>
            <p:nvPr/>
          </p:nvSpPr>
          <p:spPr>
            <a:xfrm>
              <a:off x="0" y="0"/>
              <a:ext cx="1286129" cy="63500"/>
            </a:xfrm>
            <a:custGeom>
              <a:avLst/>
              <a:gdLst/>
              <a:ahLst/>
              <a:cxnLst/>
              <a:rect l="l" t="t" r="r" b="b"/>
              <a:pathLst>
                <a:path w="1286129" h="63500">
                  <a:moveTo>
                    <a:pt x="0" y="31750"/>
                  </a:moveTo>
                  <a:cubicBezTo>
                    <a:pt x="0" y="14288"/>
                    <a:pt x="11430" y="0"/>
                    <a:pt x="25400" y="0"/>
                  </a:cubicBezTo>
                  <a:lnTo>
                    <a:pt x="1260729" y="0"/>
                  </a:lnTo>
                  <a:cubicBezTo>
                    <a:pt x="1274699" y="0"/>
                    <a:pt x="1286129" y="14288"/>
                    <a:pt x="1286129" y="31750"/>
                  </a:cubicBezTo>
                  <a:cubicBezTo>
                    <a:pt x="1286129" y="49213"/>
                    <a:pt x="1274699" y="63500"/>
                    <a:pt x="1260729" y="63500"/>
                  </a:cubicBezTo>
                  <a:lnTo>
                    <a:pt x="25400" y="63500"/>
                  </a:lnTo>
                  <a:cubicBezTo>
                    <a:pt x="11430" y="63500"/>
                    <a:pt x="0" y="49212"/>
                    <a:pt x="0" y="31750"/>
                  </a:cubicBezTo>
                  <a:close/>
                </a:path>
              </a:pathLst>
            </a:custGeom>
            <a:solidFill>
              <a:srgbClr val="CFD2D8"/>
            </a:solidFill>
          </p:spPr>
        </p:sp>
      </p:grpSp>
      <p:grpSp>
        <p:nvGrpSpPr>
          <p:cNvPr id="17" name="Group 17"/>
          <p:cNvGrpSpPr/>
          <p:nvPr/>
        </p:nvGrpSpPr>
        <p:grpSpPr>
          <a:xfrm>
            <a:off x="1000572" y="6343548"/>
            <a:ext cx="620017" cy="620017"/>
            <a:chOff x="0" y="0"/>
            <a:chExt cx="826690" cy="826690"/>
          </a:xfrm>
        </p:grpSpPr>
        <p:sp>
          <p:nvSpPr>
            <p:cNvPr id="18" name="Freeform 18"/>
            <p:cNvSpPr/>
            <p:nvPr/>
          </p:nvSpPr>
          <p:spPr>
            <a:xfrm>
              <a:off x="0" y="0"/>
              <a:ext cx="826643" cy="826643"/>
            </a:xfrm>
            <a:custGeom>
              <a:avLst/>
              <a:gdLst/>
              <a:ahLst/>
              <a:cxnLst/>
              <a:rect l="l" t="t" r="r" b="b"/>
              <a:pathLst>
                <a:path w="826643" h="826643">
                  <a:moveTo>
                    <a:pt x="0" y="55118"/>
                  </a:moveTo>
                  <a:cubicBezTo>
                    <a:pt x="0" y="24638"/>
                    <a:pt x="24638" y="0"/>
                    <a:pt x="55118" y="0"/>
                  </a:cubicBezTo>
                  <a:lnTo>
                    <a:pt x="771525" y="0"/>
                  </a:lnTo>
                  <a:cubicBezTo>
                    <a:pt x="802005" y="0"/>
                    <a:pt x="826643" y="24638"/>
                    <a:pt x="826643" y="55118"/>
                  </a:cubicBezTo>
                  <a:lnTo>
                    <a:pt x="826643" y="771525"/>
                  </a:lnTo>
                  <a:cubicBezTo>
                    <a:pt x="826643" y="802005"/>
                    <a:pt x="802005" y="826643"/>
                    <a:pt x="771525" y="826643"/>
                  </a:cubicBezTo>
                  <a:lnTo>
                    <a:pt x="55118" y="826643"/>
                  </a:lnTo>
                  <a:cubicBezTo>
                    <a:pt x="24638" y="826643"/>
                    <a:pt x="0" y="802005"/>
                    <a:pt x="0" y="771525"/>
                  </a:cubicBezTo>
                  <a:close/>
                </a:path>
              </a:pathLst>
            </a:custGeom>
            <a:solidFill>
              <a:srgbClr val="E9ECF2"/>
            </a:solidFill>
          </p:spPr>
        </p:sp>
      </p:grpSp>
      <p:sp>
        <p:nvSpPr>
          <p:cNvPr id="19" name="TextBox 19"/>
          <p:cNvSpPr txBox="1"/>
          <p:nvPr/>
        </p:nvSpPr>
        <p:spPr>
          <a:xfrm>
            <a:off x="1178421" y="6496394"/>
            <a:ext cx="228302" cy="346770"/>
          </a:xfrm>
          <a:prstGeom prst="rect">
            <a:avLst/>
          </a:prstGeom>
        </p:spPr>
        <p:txBody>
          <a:bodyPr lIns="0" tIns="0" rIns="0" bIns="0" rtlCol="0" anchor="t">
            <a:spAutoFit/>
          </a:bodyPr>
          <a:lstStyle/>
          <a:p>
            <a:pPr algn="ctr">
              <a:lnSpc>
                <a:spcPts val="3250"/>
              </a:lnSpc>
            </a:pPr>
            <a:r>
              <a:rPr lang="en-US" sz="3250">
                <a:solidFill>
                  <a:srgbClr val="15213F"/>
                </a:solidFill>
                <a:latin typeface="Roboto Slab"/>
                <a:ea typeface="Roboto Slab"/>
                <a:cs typeface="Roboto Slab"/>
                <a:sym typeface="Roboto Slab"/>
              </a:rPr>
              <a:t>2</a:t>
            </a:r>
          </a:p>
        </p:txBody>
      </p:sp>
      <p:sp>
        <p:nvSpPr>
          <p:cNvPr id="20" name="TextBox 20"/>
          <p:cNvSpPr txBox="1"/>
          <p:nvPr/>
        </p:nvSpPr>
        <p:spPr>
          <a:xfrm>
            <a:off x="2893665" y="6410669"/>
            <a:ext cx="3445223" cy="546762"/>
          </a:xfrm>
          <a:prstGeom prst="rect">
            <a:avLst/>
          </a:prstGeom>
        </p:spPr>
        <p:txBody>
          <a:bodyPr lIns="0" tIns="0" rIns="0" bIns="0" rtlCol="0" anchor="t">
            <a:spAutoFit/>
          </a:bodyPr>
          <a:lstStyle/>
          <a:p>
            <a:pPr algn="l">
              <a:lnSpc>
                <a:spcPts val="4382"/>
              </a:lnSpc>
            </a:pPr>
            <a:r>
              <a:rPr lang="en-US" sz="3489">
                <a:solidFill>
                  <a:srgbClr val="15213F"/>
                </a:solidFill>
                <a:latin typeface="Roboto Slab"/>
                <a:ea typeface="Roboto Slab"/>
                <a:cs typeface="Roboto Slab"/>
                <a:sym typeface="Roboto Slab"/>
              </a:rPr>
              <a:t>Rapid Response</a:t>
            </a:r>
          </a:p>
        </p:txBody>
      </p:sp>
      <p:sp>
        <p:nvSpPr>
          <p:cNvPr id="21" name="TextBox 21"/>
          <p:cNvSpPr txBox="1"/>
          <p:nvPr/>
        </p:nvSpPr>
        <p:spPr>
          <a:xfrm>
            <a:off x="2893665" y="7157456"/>
            <a:ext cx="7571780" cy="1042132"/>
          </a:xfrm>
          <a:prstGeom prst="rect">
            <a:avLst/>
          </a:prstGeom>
        </p:spPr>
        <p:txBody>
          <a:bodyPr lIns="0" tIns="0" rIns="0" bIns="0" rtlCol="0" anchor="t">
            <a:spAutoFit/>
          </a:bodyPr>
          <a:lstStyle/>
          <a:p>
            <a:pPr algn="l">
              <a:lnSpc>
                <a:spcPts val="4238"/>
              </a:lnSpc>
            </a:pPr>
            <a:r>
              <a:rPr lang="en-US" sz="2619">
                <a:solidFill>
                  <a:srgbClr val="15213F"/>
                </a:solidFill>
                <a:latin typeface="Roboto"/>
                <a:ea typeface="Roboto"/>
                <a:cs typeface="Roboto"/>
                <a:sym typeface="Roboto"/>
              </a:rPr>
              <a:t>In the event of an emergency, SCOUT's team will immediately dispatch the appropriate authorities.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DF1F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BFCFE"/>
            </a:solidFill>
          </p:spPr>
        </p:sp>
      </p:grpSp>
      <p:sp>
        <p:nvSpPr>
          <p:cNvPr id="6" name="Freeform 6" descr="preencoded.png"/>
          <p:cNvSpPr/>
          <p:nvPr/>
        </p:nvSpPr>
        <p:spPr>
          <a:xfrm>
            <a:off x="0" y="0"/>
            <a:ext cx="18288000" cy="3351759"/>
          </a:xfrm>
          <a:custGeom>
            <a:avLst/>
            <a:gdLst/>
            <a:ahLst/>
            <a:cxnLst/>
            <a:rect l="l" t="t" r="r" b="b"/>
            <a:pathLst>
              <a:path w="18288000" h="3351759">
                <a:moveTo>
                  <a:pt x="0" y="0"/>
                </a:moveTo>
                <a:lnTo>
                  <a:pt x="18288000" y="0"/>
                </a:lnTo>
                <a:lnTo>
                  <a:pt x="18288000" y="3351759"/>
                </a:lnTo>
                <a:lnTo>
                  <a:pt x="0" y="3351759"/>
                </a:lnTo>
                <a:lnTo>
                  <a:pt x="0" y="0"/>
                </a:lnTo>
                <a:close/>
              </a:path>
            </a:pathLst>
          </a:custGeom>
          <a:blipFill>
            <a:blip r:embed="rId3"/>
            <a:stretch>
              <a:fillRect t="-15" b="-15"/>
            </a:stretch>
          </a:blipFill>
        </p:spPr>
      </p:sp>
      <p:sp>
        <p:nvSpPr>
          <p:cNvPr id="7" name="TextBox 7"/>
          <p:cNvSpPr txBox="1"/>
          <p:nvPr/>
        </p:nvSpPr>
        <p:spPr>
          <a:xfrm>
            <a:off x="938361" y="3359944"/>
            <a:ext cx="13360004" cy="856952"/>
          </a:xfrm>
          <a:prstGeom prst="rect">
            <a:avLst/>
          </a:prstGeom>
        </p:spPr>
        <p:txBody>
          <a:bodyPr lIns="0" tIns="0" rIns="0" bIns="0" rtlCol="0" anchor="t">
            <a:spAutoFit/>
          </a:bodyPr>
          <a:lstStyle/>
          <a:p>
            <a:pPr algn="l">
              <a:lnSpc>
                <a:spcPts val="6562"/>
              </a:lnSpc>
            </a:pPr>
            <a:r>
              <a:rPr lang="en-US" sz="5250">
                <a:solidFill>
                  <a:srgbClr val="3257B8"/>
                </a:solidFill>
                <a:latin typeface="Roboto Slab"/>
                <a:ea typeface="Roboto Slab"/>
                <a:cs typeface="Roboto Slab"/>
                <a:sym typeface="Roboto Slab"/>
              </a:rPr>
              <a:t>Secure Your Home, Safeguard Your Family</a:t>
            </a:r>
          </a:p>
        </p:txBody>
      </p:sp>
      <p:grpSp>
        <p:nvGrpSpPr>
          <p:cNvPr id="8" name="Group 8"/>
          <p:cNvGrpSpPr/>
          <p:nvPr/>
        </p:nvGrpSpPr>
        <p:grpSpPr>
          <a:xfrm>
            <a:off x="938361" y="5331321"/>
            <a:ext cx="8071694" cy="1974056"/>
            <a:chOff x="0" y="0"/>
            <a:chExt cx="10762258" cy="2632075"/>
          </a:xfrm>
        </p:grpSpPr>
        <p:sp>
          <p:nvSpPr>
            <p:cNvPr id="9" name="Freeform 9"/>
            <p:cNvSpPr/>
            <p:nvPr/>
          </p:nvSpPr>
          <p:spPr>
            <a:xfrm>
              <a:off x="0" y="0"/>
              <a:ext cx="10762234" cy="2632075"/>
            </a:xfrm>
            <a:custGeom>
              <a:avLst/>
              <a:gdLst/>
              <a:ahLst/>
              <a:cxnLst/>
              <a:rect l="l" t="t" r="r" b="b"/>
              <a:pathLst>
                <a:path w="10762234" h="2632075">
                  <a:moveTo>
                    <a:pt x="0" y="53594"/>
                  </a:moveTo>
                  <a:cubicBezTo>
                    <a:pt x="0" y="24003"/>
                    <a:pt x="24003" y="0"/>
                    <a:pt x="53594" y="0"/>
                  </a:cubicBezTo>
                  <a:lnTo>
                    <a:pt x="10708640" y="0"/>
                  </a:lnTo>
                  <a:cubicBezTo>
                    <a:pt x="10738231" y="0"/>
                    <a:pt x="10762234" y="24003"/>
                    <a:pt x="10762234" y="53594"/>
                  </a:cubicBezTo>
                  <a:lnTo>
                    <a:pt x="10762234" y="2578481"/>
                  </a:lnTo>
                  <a:cubicBezTo>
                    <a:pt x="10762234" y="2608072"/>
                    <a:pt x="10738231" y="2632075"/>
                    <a:pt x="10708640" y="2632075"/>
                  </a:cubicBezTo>
                  <a:lnTo>
                    <a:pt x="53594" y="2632075"/>
                  </a:lnTo>
                  <a:cubicBezTo>
                    <a:pt x="24003" y="2632075"/>
                    <a:pt x="0" y="2608072"/>
                    <a:pt x="0" y="2578481"/>
                  </a:cubicBezTo>
                  <a:close/>
                </a:path>
              </a:pathLst>
            </a:custGeom>
            <a:solidFill>
              <a:srgbClr val="E9ECF2"/>
            </a:solidFill>
          </p:spPr>
        </p:sp>
      </p:grpSp>
      <p:sp>
        <p:nvSpPr>
          <p:cNvPr id="10" name="TextBox 10"/>
          <p:cNvSpPr txBox="1"/>
          <p:nvPr/>
        </p:nvSpPr>
        <p:spPr>
          <a:xfrm>
            <a:off x="1206401" y="5396086"/>
            <a:ext cx="3358306" cy="815975"/>
          </a:xfrm>
          <a:prstGeom prst="rect">
            <a:avLst/>
          </a:prstGeom>
        </p:spPr>
        <p:txBody>
          <a:bodyPr lIns="0" tIns="0" rIns="0" bIns="0" rtlCol="0" anchor="t">
            <a:spAutoFit/>
          </a:bodyPr>
          <a:lstStyle/>
          <a:p>
            <a:pPr algn="l">
              <a:lnSpc>
                <a:spcPts val="3249"/>
              </a:lnSpc>
            </a:pPr>
            <a:r>
              <a:rPr lang="en-US" sz="2625">
                <a:solidFill>
                  <a:srgbClr val="15213F"/>
                </a:solidFill>
                <a:latin typeface="Roboto Slab"/>
                <a:ea typeface="Roboto Slab"/>
                <a:cs typeface="Roboto Slab"/>
                <a:sym typeface="Roboto Slab"/>
              </a:rPr>
              <a:t>Real-Time Protection</a:t>
            </a:r>
          </a:p>
        </p:txBody>
      </p:sp>
      <p:sp>
        <p:nvSpPr>
          <p:cNvPr id="11" name="TextBox 11"/>
          <p:cNvSpPr txBox="1"/>
          <p:nvPr/>
        </p:nvSpPr>
        <p:spPr>
          <a:xfrm>
            <a:off x="1206401" y="6232624"/>
            <a:ext cx="7535615" cy="943867"/>
          </a:xfrm>
          <a:prstGeom prst="rect">
            <a:avLst/>
          </a:prstGeom>
        </p:spPr>
        <p:txBody>
          <a:bodyPr lIns="0" tIns="0" rIns="0" bIns="0" rtlCol="0" anchor="t">
            <a:spAutoFit/>
          </a:bodyPr>
          <a:lstStyle/>
          <a:p>
            <a:pPr algn="l">
              <a:lnSpc>
                <a:spcPts val="3374"/>
              </a:lnSpc>
            </a:pPr>
            <a:r>
              <a:rPr lang="en-US" sz="2062">
                <a:solidFill>
                  <a:srgbClr val="15213F"/>
                </a:solidFill>
                <a:latin typeface="Roboto"/>
                <a:ea typeface="Roboto"/>
                <a:cs typeface="Roboto"/>
                <a:sym typeface="Roboto"/>
              </a:rPr>
              <a:t>SCOUT's advanced AI-powered security system provides comprehensive, 24/7 monitoring and rapid response.</a:t>
            </a:r>
          </a:p>
        </p:txBody>
      </p:sp>
      <p:grpSp>
        <p:nvGrpSpPr>
          <p:cNvPr id="12" name="Group 12"/>
          <p:cNvGrpSpPr/>
          <p:nvPr/>
        </p:nvGrpSpPr>
        <p:grpSpPr>
          <a:xfrm>
            <a:off x="9278094" y="5331321"/>
            <a:ext cx="8071694" cy="1974056"/>
            <a:chOff x="0" y="0"/>
            <a:chExt cx="10762258" cy="2632075"/>
          </a:xfrm>
        </p:grpSpPr>
        <p:sp>
          <p:nvSpPr>
            <p:cNvPr id="13" name="Freeform 13"/>
            <p:cNvSpPr/>
            <p:nvPr/>
          </p:nvSpPr>
          <p:spPr>
            <a:xfrm>
              <a:off x="0" y="0"/>
              <a:ext cx="10762234" cy="2632075"/>
            </a:xfrm>
            <a:custGeom>
              <a:avLst/>
              <a:gdLst/>
              <a:ahLst/>
              <a:cxnLst/>
              <a:rect l="l" t="t" r="r" b="b"/>
              <a:pathLst>
                <a:path w="10762234" h="2632075">
                  <a:moveTo>
                    <a:pt x="0" y="53594"/>
                  </a:moveTo>
                  <a:cubicBezTo>
                    <a:pt x="0" y="24003"/>
                    <a:pt x="24003" y="0"/>
                    <a:pt x="53594" y="0"/>
                  </a:cubicBezTo>
                  <a:lnTo>
                    <a:pt x="10708640" y="0"/>
                  </a:lnTo>
                  <a:cubicBezTo>
                    <a:pt x="10738231" y="0"/>
                    <a:pt x="10762234" y="24003"/>
                    <a:pt x="10762234" y="53594"/>
                  </a:cubicBezTo>
                  <a:lnTo>
                    <a:pt x="10762234" y="2578481"/>
                  </a:lnTo>
                  <a:cubicBezTo>
                    <a:pt x="10762234" y="2608072"/>
                    <a:pt x="10738231" y="2632075"/>
                    <a:pt x="10708640" y="2632075"/>
                  </a:cubicBezTo>
                  <a:lnTo>
                    <a:pt x="53594" y="2632075"/>
                  </a:lnTo>
                  <a:cubicBezTo>
                    <a:pt x="24003" y="2632075"/>
                    <a:pt x="0" y="2608072"/>
                    <a:pt x="0" y="2578481"/>
                  </a:cubicBezTo>
                  <a:close/>
                </a:path>
              </a:pathLst>
            </a:custGeom>
            <a:solidFill>
              <a:srgbClr val="E9ECF2"/>
            </a:solidFill>
          </p:spPr>
        </p:sp>
      </p:grpSp>
      <p:sp>
        <p:nvSpPr>
          <p:cNvPr id="14" name="TextBox 14"/>
          <p:cNvSpPr txBox="1"/>
          <p:nvPr/>
        </p:nvSpPr>
        <p:spPr>
          <a:xfrm>
            <a:off x="9508852" y="5482406"/>
            <a:ext cx="3805089" cy="815975"/>
          </a:xfrm>
          <a:prstGeom prst="rect">
            <a:avLst/>
          </a:prstGeom>
        </p:spPr>
        <p:txBody>
          <a:bodyPr lIns="0" tIns="0" rIns="0" bIns="0" rtlCol="0" anchor="t">
            <a:spAutoFit/>
          </a:bodyPr>
          <a:lstStyle/>
          <a:p>
            <a:pPr algn="l">
              <a:lnSpc>
                <a:spcPts val="3249"/>
              </a:lnSpc>
            </a:pPr>
            <a:r>
              <a:rPr lang="en-US" sz="2625">
                <a:solidFill>
                  <a:srgbClr val="15213F"/>
                </a:solidFill>
                <a:latin typeface="Roboto Slab"/>
                <a:ea typeface="Roboto Slab"/>
                <a:cs typeface="Roboto Slab"/>
                <a:sym typeface="Roboto Slab"/>
              </a:rPr>
              <a:t>Privacy-Focused Design</a:t>
            </a:r>
          </a:p>
        </p:txBody>
      </p:sp>
      <p:sp>
        <p:nvSpPr>
          <p:cNvPr id="15" name="TextBox 15"/>
          <p:cNvSpPr txBox="1"/>
          <p:nvPr/>
        </p:nvSpPr>
        <p:spPr>
          <a:xfrm>
            <a:off x="9546133" y="6281067"/>
            <a:ext cx="7535615" cy="943867"/>
          </a:xfrm>
          <a:prstGeom prst="rect">
            <a:avLst/>
          </a:prstGeom>
        </p:spPr>
        <p:txBody>
          <a:bodyPr lIns="0" tIns="0" rIns="0" bIns="0" rtlCol="0" anchor="t">
            <a:spAutoFit/>
          </a:bodyPr>
          <a:lstStyle/>
          <a:p>
            <a:pPr algn="l">
              <a:lnSpc>
                <a:spcPts val="3374"/>
              </a:lnSpc>
            </a:pPr>
            <a:r>
              <a:rPr lang="en-US" sz="2062">
                <a:solidFill>
                  <a:srgbClr val="15213F"/>
                </a:solidFill>
                <a:latin typeface="Roboto"/>
                <a:ea typeface="Roboto"/>
                <a:cs typeface="Roboto"/>
                <a:sym typeface="Roboto"/>
              </a:rPr>
              <a:t>SCOUT's on-device processing and transparent practices ensure your personal data remains secure and private.</a:t>
            </a:r>
          </a:p>
        </p:txBody>
      </p:sp>
      <p:grpSp>
        <p:nvGrpSpPr>
          <p:cNvPr id="16" name="Group 16"/>
          <p:cNvGrpSpPr/>
          <p:nvPr/>
        </p:nvGrpSpPr>
        <p:grpSpPr>
          <a:xfrm>
            <a:off x="938361" y="7573416"/>
            <a:ext cx="8071694" cy="1974056"/>
            <a:chOff x="0" y="0"/>
            <a:chExt cx="10762258" cy="2632075"/>
          </a:xfrm>
        </p:grpSpPr>
        <p:sp>
          <p:nvSpPr>
            <p:cNvPr id="17" name="Freeform 17"/>
            <p:cNvSpPr/>
            <p:nvPr/>
          </p:nvSpPr>
          <p:spPr>
            <a:xfrm>
              <a:off x="0" y="0"/>
              <a:ext cx="10762234" cy="2632075"/>
            </a:xfrm>
            <a:custGeom>
              <a:avLst/>
              <a:gdLst/>
              <a:ahLst/>
              <a:cxnLst/>
              <a:rect l="l" t="t" r="r" b="b"/>
              <a:pathLst>
                <a:path w="10762234" h="2632075">
                  <a:moveTo>
                    <a:pt x="0" y="53594"/>
                  </a:moveTo>
                  <a:cubicBezTo>
                    <a:pt x="0" y="24003"/>
                    <a:pt x="24003" y="0"/>
                    <a:pt x="53594" y="0"/>
                  </a:cubicBezTo>
                  <a:lnTo>
                    <a:pt x="10708640" y="0"/>
                  </a:lnTo>
                  <a:cubicBezTo>
                    <a:pt x="10738231" y="0"/>
                    <a:pt x="10762234" y="24003"/>
                    <a:pt x="10762234" y="53594"/>
                  </a:cubicBezTo>
                  <a:lnTo>
                    <a:pt x="10762234" y="2578481"/>
                  </a:lnTo>
                  <a:cubicBezTo>
                    <a:pt x="10762234" y="2608072"/>
                    <a:pt x="10738231" y="2632075"/>
                    <a:pt x="10708640" y="2632075"/>
                  </a:cubicBezTo>
                  <a:lnTo>
                    <a:pt x="53594" y="2632075"/>
                  </a:lnTo>
                  <a:cubicBezTo>
                    <a:pt x="24003" y="2632075"/>
                    <a:pt x="0" y="2608072"/>
                    <a:pt x="0" y="2578481"/>
                  </a:cubicBezTo>
                  <a:close/>
                </a:path>
              </a:pathLst>
            </a:custGeom>
            <a:solidFill>
              <a:srgbClr val="E9ECF2"/>
            </a:solidFill>
          </p:spPr>
        </p:sp>
      </p:grpSp>
      <p:sp>
        <p:nvSpPr>
          <p:cNvPr id="18" name="TextBox 18"/>
          <p:cNvSpPr txBox="1"/>
          <p:nvPr/>
        </p:nvSpPr>
        <p:spPr>
          <a:xfrm>
            <a:off x="1028700" y="7584604"/>
            <a:ext cx="3351759" cy="815975"/>
          </a:xfrm>
          <a:prstGeom prst="rect">
            <a:avLst/>
          </a:prstGeom>
        </p:spPr>
        <p:txBody>
          <a:bodyPr lIns="0" tIns="0" rIns="0" bIns="0" rtlCol="0" anchor="t">
            <a:spAutoFit/>
          </a:bodyPr>
          <a:lstStyle/>
          <a:p>
            <a:pPr algn="l">
              <a:lnSpc>
                <a:spcPts val="3249"/>
              </a:lnSpc>
            </a:pPr>
            <a:r>
              <a:rPr lang="en-US" sz="2625">
                <a:solidFill>
                  <a:srgbClr val="15213F"/>
                </a:solidFill>
                <a:latin typeface="Roboto Slab"/>
                <a:ea typeface="Roboto Slab"/>
                <a:cs typeface="Roboto Slab"/>
                <a:sym typeface="Roboto Slab"/>
              </a:rPr>
              <a:t>Seamless Integration</a:t>
            </a:r>
          </a:p>
        </p:txBody>
      </p:sp>
      <p:sp>
        <p:nvSpPr>
          <p:cNvPr id="19" name="TextBox 19"/>
          <p:cNvSpPr txBox="1"/>
          <p:nvPr/>
        </p:nvSpPr>
        <p:spPr>
          <a:xfrm>
            <a:off x="1028700" y="8603605"/>
            <a:ext cx="7535615" cy="943867"/>
          </a:xfrm>
          <a:prstGeom prst="rect">
            <a:avLst/>
          </a:prstGeom>
        </p:spPr>
        <p:txBody>
          <a:bodyPr lIns="0" tIns="0" rIns="0" bIns="0" rtlCol="0" anchor="t">
            <a:spAutoFit/>
          </a:bodyPr>
          <a:lstStyle/>
          <a:p>
            <a:pPr algn="l">
              <a:lnSpc>
                <a:spcPts val="3374"/>
              </a:lnSpc>
            </a:pPr>
            <a:r>
              <a:rPr lang="en-US" sz="2062">
                <a:solidFill>
                  <a:srgbClr val="15213F"/>
                </a:solidFill>
                <a:latin typeface="Roboto"/>
                <a:ea typeface="Roboto"/>
                <a:cs typeface="Roboto"/>
                <a:sym typeface="Roboto"/>
              </a:rPr>
              <a:t>SCOUT seamlessly integrates with your existing smart home devices for a unified, user-friendly experience.</a:t>
            </a:r>
          </a:p>
        </p:txBody>
      </p:sp>
      <p:grpSp>
        <p:nvGrpSpPr>
          <p:cNvPr id="20" name="Group 20"/>
          <p:cNvGrpSpPr/>
          <p:nvPr/>
        </p:nvGrpSpPr>
        <p:grpSpPr>
          <a:xfrm>
            <a:off x="9278094" y="7573416"/>
            <a:ext cx="8071694" cy="1974056"/>
            <a:chOff x="0" y="0"/>
            <a:chExt cx="10762258" cy="2632075"/>
          </a:xfrm>
        </p:grpSpPr>
        <p:sp>
          <p:nvSpPr>
            <p:cNvPr id="21" name="Freeform 21"/>
            <p:cNvSpPr/>
            <p:nvPr/>
          </p:nvSpPr>
          <p:spPr>
            <a:xfrm>
              <a:off x="0" y="0"/>
              <a:ext cx="10762234" cy="2632075"/>
            </a:xfrm>
            <a:custGeom>
              <a:avLst/>
              <a:gdLst/>
              <a:ahLst/>
              <a:cxnLst/>
              <a:rect l="l" t="t" r="r" b="b"/>
              <a:pathLst>
                <a:path w="10762234" h="2632075">
                  <a:moveTo>
                    <a:pt x="0" y="53594"/>
                  </a:moveTo>
                  <a:cubicBezTo>
                    <a:pt x="0" y="24003"/>
                    <a:pt x="24003" y="0"/>
                    <a:pt x="53594" y="0"/>
                  </a:cubicBezTo>
                  <a:lnTo>
                    <a:pt x="10708640" y="0"/>
                  </a:lnTo>
                  <a:cubicBezTo>
                    <a:pt x="10738231" y="0"/>
                    <a:pt x="10762234" y="24003"/>
                    <a:pt x="10762234" y="53594"/>
                  </a:cubicBezTo>
                  <a:lnTo>
                    <a:pt x="10762234" y="2578481"/>
                  </a:lnTo>
                  <a:cubicBezTo>
                    <a:pt x="10762234" y="2608072"/>
                    <a:pt x="10738231" y="2632075"/>
                    <a:pt x="10708640" y="2632075"/>
                  </a:cubicBezTo>
                  <a:lnTo>
                    <a:pt x="53594" y="2632075"/>
                  </a:lnTo>
                  <a:cubicBezTo>
                    <a:pt x="24003" y="2632075"/>
                    <a:pt x="0" y="2608072"/>
                    <a:pt x="0" y="2578481"/>
                  </a:cubicBezTo>
                  <a:close/>
                </a:path>
              </a:pathLst>
            </a:custGeom>
            <a:solidFill>
              <a:srgbClr val="E9ECF2"/>
            </a:solidFill>
          </p:spPr>
        </p:sp>
      </p:grpSp>
      <p:sp>
        <p:nvSpPr>
          <p:cNvPr id="22" name="TextBox 22"/>
          <p:cNvSpPr txBox="1"/>
          <p:nvPr/>
        </p:nvSpPr>
        <p:spPr>
          <a:xfrm>
            <a:off x="9546134" y="7831931"/>
            <a:ext cx="3351759" cy="428476"/>
          </a:xfrm>
          <a:prstGeom prst="rect">
            <a:avLst/>
          </a:prstGeom>
        </p:spPr>
        <p:txBody>
          <a:bodyPr lIns="0" tIns="0" rIns="0" bIns="0" rtlCol="0" anchor="t">
            <a:spAutoFit/>
          </a:bodyPr>
          <a:lstStyle/>
          <a:p>
            <a:pPr algn="l">
              <a:lnSpc>
                <a:spcPts val="3249"/>
              </a:lnSpc>
            </a:pPr>
            <a:r>
              <a:rPr lang="en-US" sz="2625">
                <a:solidFill>
                  <a:srgbClr val="15213F"/>
                </a:solidFill>
                <a:latin typeface="Roboto Slab"/>
                <a:ea typeface="Roboto Slab"/>
                <a:cs typeface="Roboto Slab"/>
                <a:sym typeface="Roboto Slab"/>
              </a:rPr>
              <a:t>Professional Support</a:t>
            </a:r>
          </a:p>
        </p:txBody>
      </p:sp>
      <p:sp>
        <p:nvSpPr>
          <p:cNvPr id="23" name="TextBox 23"/>
          <p:cNvSpPr txBox="1"/>
          <p:nvPr/>
        </p:nvSpPr>
        <p:spPr>
          <a:xfrm>
            <a:off x="9546134" y="8458870"/>
            <a:ext cx="7535615" cy="943867"/>
          </a:xfrm>
          <a:prstGeom prst="rect">
            <a:avLst/>
          </a:prstGeom>
        </p:spPr>
        <p:txBody>
          <a:bodyPr lIns="0" tIns="0" rIns="0" bIns="0" rtlCol="0" anchor="t">
            <a:spAutoFit/>
          </a:bodyPr>
          <a:lstStyle/>
          <a:p>
            <a:pPr algn="l">
              <a:lnSpc>
                <a:spcPts val="3374"/>
              </a:lnSpc>
            </a:pPr>
            <a:r>
              <a:rPr lang="en-US" sz="2062">
                <a:solidFill>
                  <a:srgbClr val="15213F"/>
                </a:solidFill>
                <a:latin typeface="Roboto"/>
                <a:ea typeface="Roboto"/>
                <a:cs typeface="Roboto"/>
                <a:sym typeface="Roboto"/>
              </a:rPr>
              <a:t>SCOUT's optional 24/7 monitoring and emergency response service provides an added layer of security.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DF1F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BFCFE"/>
            </a:solidFill>
          </p:spPr>
        </p:sp>
      </p:grpSp>
      <p:sp>
        <p:nvSpPr>
          <p:cNvPr id="6" name="TextBox 6"/>
          <p:cNvSpPr txBox="1"/>
          <p:nvPr/>
        </p:nvSpPr>
        <p:spPr>
          <a:xfrm>
            <a:off x="850840" y="2523397"/>
            <a:ext cx="13046274" cy="905024"/>
          </a:xfrm>
          <a:prstGeom prst="rect">
            <a:avLst/>
          </a:prstGeom>
        </p:spPr>
        <p:txBody>
          <a:bodyPr lIns="0" tIns="0" rIns="0" bIns="0" rtlCol="0" anchor="t">
            <a:spAutoFit/>
          </a:bodyPr>
          <a:lstStyle/>
          <a:p>
            <a:pPr algn="l">
              <a:lnSpc>
                <a:spcPts val="6937"/>
              </a:lnSpc>
            </a:pPr>
            <a:r>
              <a:rPr lang="en-US" sz="5562">
                <a:solidFill>
                  <a:srgbClr val="3257B8"/>
                </a:solidFill>
                <a:latin typeface="Roboto Slab"/>
                <a:ea typeface="Roboto Slab"/>
                <a:cs typeface="Roboto Slab"/>
                <a:sym typeface="Roboto Slab"/>
              </a:rPr>
              <a:t>Privacy-Focused On-Device Processing</a:t>
            </a:r>
          </a:p>
        </p:txBody>
      </p:sp>
      <p:sp>
        <p:nvSpPr>
          <p:cNvPr id="7" name="TextBox 7"/>
          <p:cNvSpPr txBox="1"/>
          <p:nvPr/>
        </p:nvSpPr>
        <p:spPr>
          <a:xfrm>
            <a:off x="1028700" y="4902994"/>
            <a:ext cx="3544044" cy="461962"/>
          </a:xfrm>
          <a:prstGeom prst="rect">
            <a:avLst/>
          </a:prstGeom>
        </p:spPr>
        <p:txBody>
          <a:bodyPr lIns="0" tIns="0" rIns="0" bIns="0" rtlCol="0" anchor="t">
            <a:spAutoFit/>
          </a:bodyPr>
          <a:lstStyle/>
          <a:p>
            <a:pPr algn="l">
              <a:lnSpc>
                <a:spcPts val="3437"/>
              </a:lnSpc>
            </a:pPr>
            <a:r>
              <a:rPr lang="en-US" sz="2750">
                <a:solidFill>
                  <a:srgbClr val="3257B8"/>
                </a:solidFill>
                <a:latin typeface="Roboto Slab"/>
                <a:ea typeface="Roboto Slab"/>
                <a:cs typeface="Roboto Slab"/>
                <a:sym typeface="Roboto Slab"/>
              </a:rPr>
              <a:t>Protecting Your Data</a:t>
            </a:r>
          </a:p>
        </p:txBody>
      </p:sp>
      <p:sp>
        <p:nvSpPr>
          <p:cNvPr id="8" name="TextBox 8"/>
          <p:cNvSpPr txBox="1"/>
          <p:nvPr/>
        </p:nvSpPr>
        <p:spPr>
          <a:xfrm>
            <a:off x="1028700" y="5595342"/>
            <a:ext cx="4972645" cy="1909762"/>
          </a:xfrm>
          <a:prstGeom prst="rect">
            <a:avLst/>
          </a:prstGeom>
        </p:spPr>
        <p:txBody>
          <a:bodyPr lIns="0" tIns="0" rIns="0" bIns="0" rtlCol="0" anchor="t">
            <a:spAutoFit/>
          </a:bodyPr>
          <a:lstStyle/>
          <a:p>
            <a:pPr algn="l">
              <a:lnSpc>
                <a:spcPts val="3562"/>
              </a:lnSpc>
            </a:pPr>
            <a:r>
              <a:rPr lang="en-US" sz="2187">
                <a:solidFill>
                  <a:srgbClr val="15213F"/>
                </a:solidFill>
                <a:latin typeface="Roboto"/>
                <a:ea typeface="Roboto"/>
                <a:cs typeface="Roboto"/>
                <a:sym typeface="Roboto"/>
              </a:rPr>
              <a:t>SCOUT processes data locally on your devices, ensuring your personal information remains secure and private.</a:t>
            </a:r>
          </a:p>
        </p:txBody>
      </p:sp>
      <p:sp>
        <p:nvSpPr>
          <p:cNvPr id="9" name="TextBox 9"/>
          <p:cNvSpPr txBox="1"/>
          <p:nvPr/>
        </p:nvSpPr>
        <p:spPr>
          <a:xfrm>
            <a:off x="6666160" y="4546799"/>
            <a:ext cx="3804048" cy="858838"/>
          </a:xfrm>
          <a:prstGeom prst="rect">
            <a:avLst/>
          </a:prstGeom>
        </p:spPr>
        <p:txBody>
          <a:bodyPr lIns="0" tIns="0" rIns="0" bIns="0" rtlCol="0" anchor="t">
            <a:spAutoFit/>
          </a:bodyPr>
          <a:lstStyle/>
          <a:p>
            <a:pPr algn="l">
              <a:lnSpc>
                <a:spcPts val="3437"/>
              </a:lnSpc>
            </a:pPr>
            <a:r>
              <a:rPr lang="en-US" sz="2750">
                <a:solidFill>
                  <a:srgbClr val="3257B8"/>
                </a:solidFill>
                <a:latin typeface="Roboto Slab"/>
                <a:ea typeface="Roboto Slab"/>
                <a:cs typeface="Roboto Slab"/>
                <a:sym typeface="Roboto Slab"/>
              </a:rPr>
              <a:t>Respecting Your Space</a:t>
            </a:r>
          </a:p>
        </p:txBody>
      </p:sp>
      <p:sp>
        <p:nvSpPr>
          <p:cNvPr id="10" name="TextBox 10"/>
          <p:cNvSpPr txBox="1"/>
          <p:nvPr/>
        </p:nvSpPr>
        <p:spPr>
          <a:xfrm>
            <a:off x="6666160" y="5595342"/>
            <a:ext cx="4972645" cy="1456135"/>
          </a:xfrm>
          <a:prstGeom prst="rect">
            <a:avLst/>
          </a:prstGeom>
        </p:spPr>
        <p:txBody>
          <a:bodyPr lIns="0" tIns="0" rIns="0" bIns="0" rtlCol="0" anchor="t">
            <a:spAutoFit/>
          </a:bodyPr>
          <a:lstStyle/>
          <a:p>
            <a:pPr algn="l">
              <a:lnSpc>
                <a:spcPts val="3562"/>
              </a:lnSpc>
            </a:pPr>
            <a:r>
              <a:rPr lang="en-US" sz="2187">
                <a:solidFill>
                  <a:srgbClr val="15213F"/>
                </a:solidFill>
                <a:latin typeface="Roboto"/>
                <a:ea typeface="Roboto"/>
                <a:cs typeface="Roboto"/>
                <a:sym typeface="Roboto"/>
              </a:rPr>
              <a:t>SCOUT's discrete design and on-device processing respect your home environment and minimize intrusion.</a:t>
            </a:r>
          </a:p>
        </p:txBody>
      </p:sp>
      <p:sp>
        <p:nvSpPr>
          <p:cNvPr id="11" name="TextBox 11"/>
          <p:cNvSpPr txBox="1"/>
          <p:nvPr/>
        </p:nvSpPr>
        <p:spPr>
          <a:xfrm>
            <a:off x="12340084" y="4681538"/>
            <a:ext cx="3693616" cy="461962"/>
          </a:xfrm>
          <a:prstGeom prst="rect">
            <a:avLst/>
          </a:prstGeom>
        </p:spPr>
        <p:txBody>
          <a:bodyPr lIns="0" tIns="0" rIns="0" bIns="0" rtlCol="0" anchor="t">
            <a:spAutoFit/>
          </a:bodyPr>
          <a:lstStyle/>
          <a:p>
            <a:pPr algn="l">
              <a:lnSpc>
                <a:spcPts val="3437"/>
              </a:lnSpc>
            </a:pPr>
            <a:r>
              <a:rPr lang="en-US" sz="2750">
                <a:solidFill>
                  <a:srgbClr val="3257B8"/>
                </a:solidFill>
                <a:latin typeface="Roboto Slab"/>
                <a:ea typeface="Roboto Slab"/>
                <a:cs typeface="Roboto Slab"/>
                <a:sym typeface="Roboto Slab"/>
              </a:rPr>
              <a:t>Transparent Practices</a:t>
            </a:r>
          </a:p>
        </p:txBody>
      </p:sp>
      <p:sp>
        <p:nvSpPr>
          <p:cNvPr id="12" name="TextBox 12"/>
          <p:cNvSpPr txBox="1"/>
          <p:nvPr/>
        </p:nvSpPr>
        <p:spPr>
          <a:xfrm>
            <a:off x="12340084" y="5595342"/>
            <a:ext cx="4972645" cy="1456135"/>
          </a:xfrm>
          <a:prstGeom prst="rect">
            <a:avLst/>
          </a:prstGeom>
        </p:spPr>
        <p:txBody>
          <a:bodyPr lIns="0" tIns="0" rIns="0" bIns="0" rtlCol="0" anchor="t">
            <a:spAutoFit/>
          </a:bodyPr>
          <a:lstStyle/>
          <a:p>
            <a:pPr algn="l">
              <a:lnSpc>
                <a:spcPts val="3562"/>
              </a:lnSpc>
            </a:pPr>
            <a:r>
              <a:rPr lang="en-US" sz="2187">
                <a:solidFill>
                  <a:srgbClr val="15213F"/>
                </a:solidFill>
                <a:latin typeface="Roboto"/>
                <a:ea typeface="Roboto"/>
                <a:cs typeface="Roboto"/>
                <a:sym typeface="Roboto"/>
              </a:rPr>
              <a:t>SCOUT's policies prioritize transparency, giving you full control over your data and privacy.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4515" y="947483"/>
            <a:ext cx="18657031" cy="9339517"/>
          </a:xfrm>
          <a:custGeom>
            <a:avLst/>
            <a:gdLst/>
            <a:ahLst/>
            <a:cxnLst/>
            <a:rect l="l" t="t" r="r" b="b"/>
            <a:pathLst>
              <a:path w="18657031" h="9339517">
                <a:moveTo>
                  <a:pt x="0" y="0"/>
                </a:moveTo>
                <a:lnTo>
                  <a:pt x="18657030" y="0"/>
                </a:lnTo>
                <a:lnTo>
                  <a:pt x="18657030" y="9339517"/>
                </a:lnTo>
                <a:lnTo>
                  <a:pt x="0" y="9339517"/>
                </a:lnTo>
                <a:lnTo>
                  <a:pt x="0" y="0"/>
                </a:lnTo>
                <a:close/>
              </a:path>
            </a:pathLst>
          </a:custGeom>
          <a:blipFill>
            <a:blip r:embed="rId2"/>
            <a:stretch>
              <a:fillRect t="-1630"/>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434286" y="0"/>
            <a:ext cx="6853714" cy="10287000"/>
          </a:xfrm>
          <a:custGeom>
            <a:avLst/>
            <a:gdLst/>
            <a:ahLst/>
            <a:cxnLst/>
            <a:rect l="l" t="t" r="r" b="b"/>
            <a:pathLst>
              <a:path w="6853714" h="10287000">
                <a:moveTo>
                  <a:pt x="0" y="0"/>
                </a:moveTo>
                <a:lnTo>
                  <a:pt x="6853714" y="0"/>
                </a:lnTo>
                <a:lnTo>
                  <a:pt x="6853714" y="10287000"/>
                </a:lnTo>
                <a:lnTo>
                  <a:pt x="0" y="10287000"/>
                </a:lnTo>
                <a:lnTo>
                  <a:pt x="0" y="0"/>
                </a:lnTo>
                <a:close/>
              </a:path>
            </a:pathLst>
          </a:custGeom>
          <a:blipFill>
            <a:blip r:embed="rId2"/>
            <a:stretch>
              <a:fillRect/>
            </a:stretch>
          </a:blipFill>
        </p:spPr>
      </p:sp>
      <p:sp>
        <p:nvSpPr>
          <p:cNvPr id="3" name="Freeform 3"/>
          <p:cNvSpPr/>
          <p:nvPr/>
        </p:nvSpPr>
        <p:spPr>
          <a:xfrm>
            <a:off x="1494983" y="0"/>
            <a:ext cx="8183135" cy="1544567"/>
          </a:xfrm>
          <a:custGeom>
            <a:avLst/>
            <a:gdLst/>
            <a:ahLst/>
            <a:cxnLst/>
            <a:rect l="l" t="t" r="r" b="b"/>
            <a:pathLst>
              <a:path w="8183135" h="1544567">
                <a:moveTo>
                  <a:pt x="0" y="0"/>
                </a:moveTo>
                <a:lnTo>
                  <a:pt x="8183135" y="0"/>
                </a:lnTo>
                <a:lnTo>
                  <a:pt x="8183135" y="1544567"/>
                </a:lnTo>
                <a:lnTo>
                  <a:pt x="0" y="1544567"/>
                </a:lnTo>
                <a:lnTo>
                  <a:pt x="0" y="0"/>
                </a:lnTo>
                <a:close/>
              </a:path>
            </a:pathLst>
          </a:custGeom>
          <a:blipFill>
            <a:blip r:embed="rId3"/>
            <a:stretch>
              <a:fillRect/>
            </a:stretch>
          </a:blipFill>
        </p:spPr>
      </p:sp>
      <p:sp>
        <p:nvSpPr>
          <p:cNvPr id="4" name="Freeform 4"/>
          <p:cNvSpPr/>
          <p:nvPr/>
        </p:nvSpPr>
        <p:spPr>
          <a:xfrm>
            <a:off x="2865670" y="1361626"/>
            <a:ext cx="6278330" cy="4105463"/>
          </a:xfrm>
          <a:custGeom>
            <a:avLst/>
            <a:gdLst/>
            <a:ahLst/>
            <a:cxnLst/>
            <a:rect l="l" t="t" r="r" b="b"/>
            <a:pathLst>
              <a:path w="6278330" h="4105463">
                <a:moveTo>
                  <a:pt x="0" y="0"/>
                </a:moveTo>
                <a:lnTo>
                  <a:pt x="6278330" y="0"/>
                </a:lnTo>
                <a:lnTo>
                  <a:pt x="6278330" y="4105464"/>
                </a:lnTo>
                <a:lnTo>
                  <a:pt x="0" y="4105464"/>
                </a:lnTo>
                <a:lnTo>
                  <a:pt x="0" y="0"/>
                </a:lnTo>
                <a:close/>
              </a:path>
            </a:pathLst>
          </a:custGeom>
          <a:blipFill>
            <a:blip r:embed="rId4"/>
            <a:stretch>
              <a:fillRect/>
            </a:stretch>
          </a:blipFill>
        </p:spPr>
      </p:sp>
      <p:sp>
        <p:nvSpPr>
          <p:cNvPr id="5" name="Freeform 5"/>
          <p:cNvSpPr/>
          <p:nvPr/>
        </p:nvSpPr>
        <p:spPr>
          <a:xfrm>
            <a:off x="2793114" y="5785845"/>
            <a:ext cx="6423443" cy="4200355"/>
          </a:xfrm>
          <a:custGeom>
            <a:avLst/>
            <a:gdLst/>
            <a:ahLst/>
            <a:cxnLst/>
            <a:rect l="l" t="t" r="r" b="b"/>
            <a:pathLst>
              <a:path w="6423443" h="4200355">
                <a:moveTo>
                  <a:pt x="0" y="0"/>
                </a:moveTo>
                <a:lnTo>
                  <a:pt x="6423443" y="0"/>
                </a:lnTo>
                <a:lnTo>
                  <a:pt x="6423443" y="4200355"/>
                </a:lnTo>
                <a:lnTo>
                  <a:pt x="0" y="4200355"/>
                </a:lnTo>
                <a:lnTo>
                  <a:pt x="0" y="0"/>
                </a:lnTo>
                <a:close/>
              </a:path>
            </a:pathLst>
          </a:custGeom>
          <a:blipFill>
            <a:blip r:embed="rId4"/>
            <a:stretch>
              <a:fillRect/>
            </a:stretch>
          </a:blipFill>
        </p:spPr>
      </p:sp>
      <p:sp>
        <p:nvSpPr>
          <p:cNvPr id="6" name="TextBox 6"/>
          <p:cNvSpPr txBox="1"/>
          <p:nvPr/>
        </p:nvSpPr>
        <p:spPr>
          <a:xfrm>
            <a:off x="4435790" y="1525517"/>
            <a:ext cx="3138091" cy="750253"/>
          </a:xfrm>
          <a:prstGeom prst="rect">
            <a:avLst/>
          </a:prstGeom>
        </p:spPr>
        <p:txBody>
          <a:bodyPr lIns="0" tIns="0" rIns="0" bIns="0" rtlCol="0" anchor="t">
            <a:spAutoFit/>
          </a:bodyPr>
          <a:lstStyle/>
          <a:p>
            <a:pPr algn="ctr">
              <a:lnSpc>
                <a:spcPts val="6062"/>
              </a:lnSpc>
              <a:spcBef>
                <a:spcPct val="0"/>
              </a:spcBef>
            </a:pPr>
            <a:r>
              <a:rPr lang="en-US" sz="4849">
                <a:solidFill>
                  <a:srgbClr val="000000"/>
                </a:solidFill>
                <a:latin typeface="Roboto Slab"/>
                <a:ea typeface="Roboto Slab"/>
                <a:cs typeface="Roboto Slab"/>
                <a:sym typeface="Roboto Slab"/>
              </a:rPr>
              <a:t>Customers</a:t>
            </a:r>
          </a:p>
        </p:txBody>
      </p:sp>
      <p:sp>
        <p:nvSpPr>
          <p:cNvPr id="7" name="TextBox 7"/>
          <p:cNvSpPr txBox="1"/>
          <p:nvPr/>
        </p:nvSpPr>
        <p:spPr>
          <a:xfrm>
            <a:off x="3486612" y="5937253"/>
            <a:ext cx="4461570" cy="1512253"/>
          </a:xfrm>
          <a:prstGeom prst="rect">
            <a:avLst/>
          </a:prstGeom>
        </p:spPr>
        <p:txBody>
          <a:bodyPr lIns="0" tIns="0" rIns="0" bIns="0" rtlCol="0" anchor="t">
            <a:spAutoFit/>
          </a:bodyPr>
          <a:lstStyle/>
          <a:p>
            <a:pPr algn="ctr">
              <a:lnSpc>
                <a:spcPts val="6062"/>
              </a:lnSpc>
            </a:pPr>
            <a:r>
              <a:rPr lang="en-US" sz="4849">
                <a:solidFill>
                  <a:srgbClr val="000000"/>
                </a:solidFill>
                <a:latin typeface="Roboto Slab"/>
                <a:ea typeface="Roboto Slab"/>
                <a:cs typeface="Roboto Slab"/>
                <a:sym typeface="Roboto Slab"/>
              </a:rPr>
              <a:t>Characteristics</a:t>
            </a:r>
          </a:p>
          <a:p>
            <a:pPr algn="ctr">
              <a:lnSpc>
                <a:spcPts val="6062"/>
              </a:lnSpc>
              <a:spcBef>
                <a:spcPct val="0"/>
              </a:spcBef>
            </a:pPr>
            <a:endParaRPr lang="en-US" sz="4849">
              <a:solidFill>
                <a:srgbClr val="000000"/>
              </a:solidFill>
              <a:latin typeface="Roboto Slab"/>
              <a:ea typeface="Roboto Slab"/>
              <a:cs typeface="Roboto Slab"/>
              <a:sym typeface="Roboto Slab"/>
            </a:endParaRPr>
          </a:p>
        </p:txBody>
      </p:sp>
      <p:sp>
        <p:nvSpPr>
          <p:cNvPr id="8" name="TextBox 8"/>
          <p:cNvSpPr txBox="1"/>
          <p:nvPr/>
        </p:nvSpPr>
        <p:spPr>
          <a:xfrm>
            <a:off x="3179504" y="2722472"/>
            <a:ext cx="5650663" cy="2421028"/>
          </a:xfrm>
          <a:prstGeom prst="rect">
            <a:avLst/>
          </a:prstGeom>
        </p:spPr>
        <p:txBody>
          <a:bodyPr lIns="0" tIns="0" rIns="0" bIns="0" rtlCol="0" anchor="t">
            <a:spAutoFit/>
          </a:bodyPr>
          <a:lstStyle/>
          <a:p>
            <a:pPr algn="ctr">
              <a:lnSpc>
                <a:spcPts val="4153"/>
              </a:lnSpc>
            </a:pPr>
            <a:r>
              <a:rPr lang="en-US" sz="3322">
                <a:solidFill>
                  <a:srgbClr val="000000"/>
                </a:solidFill>
                <a:latin typeface="Roboto Slab"/>
                <a:ea typeface="Roboto Slab"/>
                <a:cs typeface="Roboto Slab"/>
                <a:sym typeface="Roboto Slab"/>
              </a:rPr>
              <a:t>Urban homeowners/renters with mid-to-high incomes seeking smart home automation.</a:t>
            </a:r>
          </a:p>
          <a:p>
            <a:pPr algn="ctr">
              <a:lnSpc>
                <a:spcPts val="2685"/>
              </a:lnSpc>
              <a:spcBef>
                <a:spcPct val="0"/>
              </a:spcBef>
            </a:pPr>
            <a:endParaRPr lang="en-US" sz="3322">
              <a:solidFill>
                <a:srgbClr val="000000"/>
              </a:solidFill>
              <a:latin typeface="Roboto Slab"/>
              <a:ea typeface="Roboto Slab"/>
              <a:cs typeface="Roboto Slab"/>
              <a:sym typeface="Roboto Slab"/>
            </a:endParaRPr>
          </a:p>
        </p:txBody>
      </p:sp>
      <p:sp>
        <p:nvSpPr>
          <p:cNvPr id="9" name="TextBox 9"/>
          <p:cNvSpPr txBox="1"/>
          <p:nvPr/>
        </p:nvSpPr>
        <p:spPr>
          <a:xfrm>
            <a:off x="3179504" y="7069094"/>
            <a:ext cx="5650663" cy="2944903"/>
          </a:xfrm>
          <a:prstGeom prst="rect">
            <a:avLst/>
          </a:prstGeom>
        </p:spPr>
        <p:txBody>
          <a:bodyPr lIns="0" tIns="0" rIns="0" bIns="0" rtlCol="0" anchor="t">
            <a:spAutoFit/>
          </a:bodyPr>
          <a:lstStyle/>
          <a:p>
            <a:pPr algn="ctr">
              <a:lnSpc>
                <a:spcPts val="4153"/>
              </a:lnSpc>
            </a:pPr>
            <a:r>
              <a:rPr lang="en-US" sz="3322">
                <a:solidFill>
                  <a:srgbClr val="000000"/>
                </a:solidFill>
                <a:latin typeface="Roboto Slab"/>
                <a:ea typeface="Roboto Slab"/>
                <a:cs typeface="Roboto Slab"/>
                <a:sym typeface="Roboto Slab"/>
              </a:rPr>
              <a:t>Tech-savvy, privacy-conscious, and prefer reliable, automated home monitoring.</a:t>
            </a:r>
          </a:p>
          <a:p>
            <a:pPr algn="ctr">
              <a:lnSpc>
                <a:spcPts val="4153"/>
              </a:lnSpc>
            </a:pPr>
            <a:endParaRPr lang="en-US" sz="3322">
              <a:solidFill>
                <a:srgbClr val="000000"/>
              </a:solidFill>
              <a:latin typeface="Roboto Slab"/>
              <a:ea typeface="Roboto Slab"/>
              <a:cs typeface="Roboto Slab"/>
              <a:sym typeface="Roboto Slab"/>
            </a:endParaRPr>
          </a:p>
          <a:p>
            <a:pPr algn="ctr">
              <a:lnSpc>
                <a:spcPts val="2685"/>
              </a:lnSpc>
              <a:spcBef>
                <a:spcPct val="0"/>
              </a:spcBef>
            </a:pPr>
            <a:endParaRPr lang="en-US" sz="3322">
              <a:solidFill>
                <a:srgbClr val="000000"/>
              </a:solidFill>
              <a:latin typeface="Roboto Slab"/>
              <a:ea typeface="Roboto Slab"/>
              <a:cs typeface="Roboto Slab"/>
              <a:sym typeface="Roboto Slab"/>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625522" cy="9769169"/>
          </a:xfrm>
          <a:custGeom>
            <a:avLst/>
            <a:gdLst/>
            <a:ahLst/>
            <a:cxnLst/>
            <a:rect l="l" t="t" r="r" b="b"/>
            <a:pathLst>
              <a:path w="18625522" h="9769169">
                <a:moveTo>
                  <a:pt x="0" y="0"/>
                </a:moveTo>
                <a:lnTo>
                  <a:pt x="18625522" y="0"/>
                </a:lnTo>
                <a:lnTo>
                  <a:pt x="18625522" y="9769169"/>
                </a:lnTo>
                <a:lnTo>
                  <a:pt x="0" y="9769169"/>
                </a:lnTo>
                <a:lnTo>
                  <a:pt x="0" y="0"/>
                </a:lnTo>
                <a:close/>
              </a:path>
            </a:pathLst>
          </a:custGeom>
          <a:blipFill>
            <a:blip r:embed="rId2"/>
            <a:stretch>
              <a:fillRect l="-2447" r="-2447" b="-1493"/>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409084"/>
            <a:ext cx="18288000" cy="6080760"/>
          </a:xfrm>
          <a:custGeom>
            <a:avLst/>
            <a:gdLst/>
            <a:ahLst/>
            <a:cxnLst/>
            <a:rect l="l" t="t" r="r" b="b"/>
            <a:pathLst>
              <a:path w="18288000" h="6080760">
                <a:moveTo>
                  <a:pt x="0" y="0"/>
                </a:moveTo>
                <a:lnTo>
                  <a:pt x="18288000" y="0"/>
                </a:lnTo>
                <a:lnTo>
                  <a:pt x="18288000" y="6080760"/>
                </a:lnTo>
                <a:lnTo>
                  <a:pt x="0" y="6080760"/>
                </a:lnTo>
                <a:lnTo>
                  <a:pt x="0" y="0"/>
                </a:lnTo>
                <a:close/>
              </a:path>
            </a:pathLst>
          </a:custGeom>
          <a:blipFill>
            <a:blip r:embed="rId2"/>
            <a:stretch>
              <a:fillRect/>
            </a:stretch>
          </a:blipFill>
        </p:spPr>
      </p:sp>
      <p:sp>
        <p:nvSpPr>
          <p:cNvPr id="3" name="Freeform 3"/>
          <p:cNvSpPr/>
          <p:nvPr/>
        </p:nvSpPr>
        <p:spPr>
          <a:xfrm>
            <a:off x="16401425" y="-2485151"/>
            <a:ext cx="18288000" cy="4141346"/>
          </a:xfrm>
          <a:custGeom>
            <a:avLst/>
            <a:gdLst/>
            <a:ahLst/>
            <a:cxnLst/>
            <a:rect l="l" t="t" r="r" b="b"/>
            <a:pathLst>
              <a:path w="18288000" h="4141346">
                <a:moveTo>
                  <a:pt x="0" y="0"/>
                </a:moveTo>
                <a:lnTo>
                  <a:pt x="18288000" y="0"/>
                </a:lnTo>
                <a:lnTo>
                  <a:pt x="18288000" y="4141346"/>
                </a:lnTo>
                <a:lnTo>
                  <a:pt x="0" y="4141346"/>
                </a:lnTo>
                <a:lnTo>
                  <a:pt x="0" y="0"/>
                </a:lnTo>
                <a:close/>
              </a:path>
            </a:pathLst>
          </a:custGeom>
          <a:blipFill>
            <a:blip r:embed="rId3"/>
            <a:stretch>
              <a:fillRect l="-53543" t="-15984" b="-5215"/>
            </a:stretch>
          </a:blipFill>
        </p:spPr>
      </p:sp>
      <p:sp>
        <p:nvSpPr>
          <p:cNvPr id="4" name="Freeform 4"/>
          <p:cNvSpPr/>
          <p:nvPr/>
        </p:nvSpPr>
        <p:spPr>
          <a:xfrm>
            <a:off x="0" y="0"/>
            <a:ext cx="18565431" cy="5476331"/>
          </a:xfrm>
          <a:custGeom>
            <a:avLst/>
            <a:gdLst/>
            <a:ahLst/>
            <a:cxnLst/>
            <a:rect l="l" t="t" r="r" b="b"/>
            <a:pathLst>
              <a:path w="18565431" h="5476331">
                <a:moveTo>
                  <a:pt x="0" y="0"/>
                </a:moveTo>
                <a:lnTo>
                  <a:pt x="18565431" y="0"/>
                </a:lnTo>
                <a:lnTo>
                  <a:pt x="18565431" y="5476331"/>
                </a:lnTo>
                <a:lnTo>
                  <a:pt x="0" y="5476331"/>
                </a:lnTo>
                <a:lnTo>
                  <a:pt x="0" y="0"/>
                </a:lnTo>
                <a:close/>
              </a:path>
            </a:pathLst>
          </a:custGeom>
          <a:blipFill>
            <a:blip r:embed="rId4"/>
            <a:stretch>
              <a:fillRect t="-12857" b="-80802"/>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23D4C8-98CD-4C3F-0C83-F0ADAF37C21B}"/>
              </a:ext>
            </a:extLst>
          </p:cNvPr>
          <p:cNvSpPr txBox="1"/>
          <p:nvPr/>
        </p:nvSpPr>
        <p:spPr>
          <a:xfrm>
            <a:off x="6781800" y="342900"/>
            <a:ext cx="9144000" cy="1107996"/>
          </a:xfrm>
          <a:prstGeom prst="rect">
            <a:avLst/>
          </a:prstGeom>
          <a:noFill/>
        </p:spPr>
        <p:txBody>
          <a:bodyPr wrap="square">
            <a:spAutoFit/>
          </a:bodyPr>
          <a:lstStyle/>
          <a:p>
            <a:r>
              <a:rPr lang="en-US" sz="6600" b="1" dirty="0">
                <a:solidFill>
                  <a:srgbClr val="3257B8"/>
                </a:solidFill>
                <a:latin typeface="Roboto Slab"/>
                <a:ea typeface="Roboto Slab"/>
                <a:cs typeface="Roboto Slab"/>
                <a:sym typeface="Roboto Slab"/>
              </a:rPr>
              <a:t>Results </a:t>
            </a:r>
            <a:endParaRPr lang="en-IN" sz="6600" b="1" dirty="0"/>
          </a:p>
        </p:txBody>
      </p:sp>
      <p:pic>
        <p:nvPicPr>
          <p:cNvPr id="5" name="Picture 4">
            <a:extLst>
              <a:ext uri="{FF2B5EF4-FFF2-40B4-BE49-F238E27FC236}">
                <a16:creationId xmlns:a16="http://schemas.microsoft.com/office/drawing/2014/main" id="{854A01FE-E294-7D9D-65C9-7990B238E35D}"/>
              </a:ext>
            </a:extLst>
          </p:cNvPr>
          <p:cNvPicPr>
            <a:picLocks noChangeAspect="1"/>
          </p:cNvPicPr>
          <p:nvPr/>
        </p:nvPicPr>
        <p:blipFill>
          <a:blip r:embed="rId2"/>
          <a:stretch>
            <a:fillRect/>
          </a:stretch>
        </p:blipFill>
        <p:spPr>
          <a:xfrm>
            <a:off x="2372193" y="1434032"/>
            <a:ext cx="13050359" cy="7745716"/>
          </a:xfrm>
          <a:prstGeom prst="rect">
            <a:avLst/>
          </a:prstGeom>
        </p:spPr>
      </p:pic>
    </p:spTree>
    <p:extLst>
      <p:ext uri="{BB962C8B-B14F-4D97-AF65-F5344CB8AC3E}">
        <p14:creationId xmlns:p14="http://schemas.microsoft.com/office/powerpoint/2010/main" val="2133231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C8F647-E1FD-EE3A-D8C8-04729F83D93D}"/>
              </a:ext>
            </a:extLst>
          </p:cNvPr>
          <p:cNvSpPr txBox="1"/>
          <p:nvPr/>
        </p:nvSpPr>
        <p:spPr>
          <a:xfrm>
            <a:off x="7086600" y="3123"/>
            <a:ext cx="13335000" cy="830997"/>
          </a:xfrm>
          <a:prstGeom prst="rect">
            <a:avLst/>
          </a:prstGeom>
          <a:noFill/>
        </p:spPr>
        <p:txBody>
          <a:bodyPr wrap="square">
            <a:spAutoFit/>
          </a:bodyPr>
          <a:lstStyle/>
          <a:p>
            <a:r>
              <a:rPr lang="en-US" sz="4800" b="1" dirty="0">
                <a:solidFill>
                  <a:srgbClr val="3257B8"/>
                </a:solidFill>
                <a:latin typeface="Roboto Slab"/>
                <a:ea typeface="Roboto Slab"/>
                <a:cs typeface="Roboto Slab"/>
                <a:sym typeface="Roboto Slab"/>
              </a:rPr>
              <a:t>Results (Graphs) </a:t>
            </a:r>
            <a:endParaRPr lang="en-IN" sz="4800" b="1" dirty="0"/>
          </a:p>
        </p:txBody>
      </p:sp>
      <p:pic>
        <p:nvPicPr>
          <p:cNvPr id="5" name="Picture 4">
            <a:extLst>
              <a:ext uri="{FF2B5EF4-FFF2-40B4-BE49-F238E27FC236}">
                <a16:creationId xmlns:a16="http://schemas.microsoft.com/office/drawing/2014/main" id="{662F370D-A355-AD5E-B991-BEF9DE7D13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834120"/>
            <a:ext cx="7125103" cy="4748213"/>
          </a:xfrm>
          <a:prstGeom prst="rect">
            <a:avLst/>
          </a:prstGeom>
        </p:spPr>
      </p:pic>
      <p:pic>
        <p:nvPicPr>
          <p:cNvPr id="7" name="Picture 6">
            <a:extLst>
              <a:ext uri="{FF2B5EF4-FFF2-40B4-BE49-F238E27FC236}">
                <a16:creationId xmlns:a16="http://schemas.microsoft.com/office/drawing/2014/main" id="{53B03CE6-7D10-1E33-CBEB-6FBB9E5832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6381" y="2388394"/>
            <a:ext cx="8268547" cy="5510212"/>
          </a:xfrm>
          <a:prstGeom prst="rect">
            <a:avLst/>
          </a:prstGeom>
        </p:spPr>
      </p:pic>
      <p:pic>
        <p:nvPicPr>
          <p:cNvPr id="9" name="Picture 8">
            <a:extLst>
              <a:ext uri="{FF2B5EF4-FFF2-40B4-BE49-F238E27FC236}">
                <a16:creationId xmlns:a16="http://schemas.microsoft.com/office/drawing/2014/main" id="{9D7DF061-78A3-1772-B65B-C3FAF6E3E6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2751" y="5555476"/>
            <a:ext cx="6553200" cy="4367093"/>
          </a:xfrm>
          <a:prstGeom prst="rect">
            <a:avLst/>
          </a:prstGeom>
        </p:spPr>
      </p:pic>
    </p:spTree>
    <p:extLst>
      <p:ext uri="{BB962C8B-B14F-4D97-AF65-F5344CB8AC3E}">
        <p14:creationId xmlns:p14="http://schemas.microsoft.com/office/powerpoint/2010/main" val="34846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CF2"/>
        </a:solidFill>
        <a:effectLst/>
      </p:bgPr>
    </p:bg>
    <p:spTree>
      <p:nvGrpSpPr>
        <p:cNvPr id="1" name=""/>
        <p:cNvGrpSpPr/>
        <p:nvPr/>
      </p:nvGrpSpPr>
      <p:grpSpPr>
        <a:xfrm>
          <a:off x="0" y="0"/>
          <a:ext cx="0" cy="0"/>
          <a:chOff x="0" y="0"/>
          <a:chExt cx="0" cy="0"/>
        </a:xfrm>
      </p:grpSpPr>
      <p:sp>
        <p:nvSpPr>
          <p:cNvPr id="2" name="TextBox 2"/>
          <p:cNvSpPr txBox="1"/>
          <p:nvPr/>
        </p:nvSpPr>
        <p:spPr>
          <a:xfrm>
            <a:off x="6188692" y="705797"/>
            <a:ext cx="5910617" cy="1378601"/>
          </a:xfrm>
          <a:prstGeom prst="rect">
            <a:avLst/>
          </a:prstGeom>
        </p:spPr>
        <p:txBody>
          <a:bodyPr lIns="0" tIns="0" rIns="0" bIns="0" rtlCol="0" anchor="t">
            <a:spAutoFit/>
          </a:bodyPr>
          <a:lstStyle/>
          <a:p>
            <a:pPr algn="ctr">
              <a:lnSpc>
                <a:spcPts val="11002"/>
              </a:lnSpc>
              <a:spcBef>
                <a:spcPct val="0"/>
              </a:spcBef>
            </a:pPr>
            <a:r>
              <a:rPr lang="en-US" sz="8802" b="1">
                <a:solidFill>
                  <a:srgbClr val="000000"/>
                </a:solidFill>
                <a:latin typeface="Roboto Slab Bold"/>
                <a:ea typeface="Roboto Slab Bold"/>
                <a:cs typeface="Roboto Slab Bold"/>
                <a:sym typeface="Roboto Slab Bold"/>
              </a:rPr>
              <a:t>References</a:t>
            </a:r>
          </a:p>
        </p:txBody>
      </p:sp>
      <p:sp>
        <p:nvSpPr>
          <p:cNvPr id="3" name="TextBox 3"/>
          <p:cNvSpPr txBox="1"/>
          <p:nvPr/>
        </p:nvSpPr>
        <p:spPr>
          <a:xfrm>
            <a:off x="0" y="3058636"/>
            <a:ext cx="18288000" cy="4169728"/>
          </a:xfrm>
          <a:prstGeom prst="rect">
            <a:avLst/>
          </a:prstGeom>
        </p:spPr>
        <p:txBody>
          <a:bodyPr lIns="0" tIns="0" rIns="0" bIns="0" rtlCol="0" anchor="t">
            <a:spAutoFit/>
          </a:bodyPr>
          <a:lstStyle/>
          <a:p>
            <a:pPr marL="723262" lvl="1" indent="-361631" algn="l">
              <a:lnSpc>
                <a:spcPts val="4187"/>
              </a:lnSpc>
              <a:buFont typeface="Arial"/>
              <a:buChar char="•"/>
            </a:pPr>
            <a:r>
              <a:rPr lang="en-US" sz="3349">
                <a:solidFill>
                  <a:srgbClr val="000000"/>
                </a:solidFill>
                <a:latin typeface="Roboto Slab"/>
                <a:ea typeface="Roboto Slab"/>
                <a:cs typeface="Roboto Slab"/>
                <a:sym typeface="Roboto Slab"/>
              </a:rPr>
              <a:t> “A Machine Learning Approach for Fall Detection and Daily Living Activity Recognition” date of publication March 21, 2019 at Int.Conf.IEEE .</a:t>
            </a:r>
          </a:p>
          <a:p>
            <a:pPr algn="l">
              <a:lnSpc>
                <a:spcPts val="4187"/>
              </a:lnSpc>
            </a:pPr>
            <a:endParaRPr lang="en-US" sz="3349">
              <a:solidFill>
                <a:srgbClr val="000000"/>
              </a:solidFill>
              <a:latin typeface="Roboto Slab"/>
              <a:ea typeface="Roboto Slab"/>
              <a:cs typeface="Roboto Slab"/>
              <a:sym typeface="Roboto Slab"/>
            </a:endParaRPr>
          </a:p>
          <a:p>
            <a:pPr marL="723262" lvl="1" indent="-361631" algn="l">
              <a:lnSpc>
                <a:spcPts val="4187"/>
              </a:lnSpc>
              <a:buFont typeface="Arial"/>
              <a:buChar char="•"/>
            </a:pPr>
            <a:r>
              <a:rPr lang="en-US" sz="3349">
                <a:solidFill>
                  <a:srgbClr val="000000"/>
                </a:solidFill>
                <a:latin typeface="Roboto Slab"/>
                <a:ea typeface="Roboto Slab"/>
                <a:cs typeface="Roboto Slab"/>
                <a:sym typeface="Roboto Slab"/>
              </a:rPr>
              <a:t>“ An improved fire detection approach based on YOLO-v8 for smart cities” date of publication 28 July 2023 at Int.Conf.IEEE .</a:t>
            </a:r>
          </a:p>
          <a:p>
            <a:pPr algn="l">
              <a:lnSpc>
                <a:spcPts val="4187"/>
              </a:lnSpc>
            </a:pPr>
            <a:endParaRPr lang="en-US" sz="3349">
              <a:solidFill>
                <a:srgbClr val="000000"/>
              </a:solidFill>
              <a:latin typeface="Roboto Slab"/>
              <a:ea typeface="Roboto Slab"/>
              <a:cs typeface="Roboto Slab"/>
              <a:sym typeface="Roboto Slab"/>
            </a:endParaRPr>
          </a:p>
          <a:p>
            <a:pPr marL="723262" lvl="1" indent="-361631" algn="l">
              <a:lnSpc>
                <a:spcPts val="4187"/>
              </a:lnSpc>
              <a:buFont typeface="Arial"/>
              <a:buChar char="•"/>
            </a:pPr>
            <a:r>
              <a:rPr lang="en-US" sz="3349">
                <a:solidFill>
                  <a:srgbClr val="000000"/>
                </a:solidFill>
                <a:latin typeface="Roboto Slab"/>
                <a:ea typeface="Roboto Slab"/>
                <a:cs typeface="Roboto Slab"/>
                <a:sym typeface="Roboto Slab"/>
              </a:rPr>
              <a:t>“Hawk-Eye: An AI-Powered Threat Detector for Intelligent Surveillance Cameras” date of publication 12 May 2021 at Int.Conf.IEEE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312160"/>
            <a:ext cx="8743570" cy="5825403"/>
          </a:xfrm>
          <a:custGeom>
            <a:avLst/>
            <a:gdLst/>
            <a:ahLst/>
            <a:cxnLst/>
            <a:rect l="l" t="t" r="r" b="b"/>
            <a:pathLst>
              <a:path w="8743570" h="5825403">
                <a:moveTo>
                  <a:pt x="0" y="0"/>
                </a:moveTo>
                <a:lnTo>
                  <a:pt x="8743570" y="0"/>
                </a:lnTo>
                <a:lnTo>
                  <a:pt x="8743570" y="5825403"/>
                </a:lnTo>
                <a:lnTo>
                  <a:pt x="0" y="5825403"/>
                </a:lnTo>
                <a:lnTo>
                  <a:pt x="0" y="0"/>
                </a:lnTo>
                <a:close/>
              </a:path>
            </a:pathLst>
          </a:custGeom>
          <a:blipFill>
            <a:blip r:embed="rId2"/>
            <a:stretch>
              <a:fillRect/>
            </a:stretch>
          </a:blipFill>
        </p:spPr>
      </p:sp>
      <p:sp>
        <p:nvSpPr>
          <p:cNvPr id="3" name="Freeform 3"/>
          <p:cNvSpPr/>
          <p:nvPr/>
        </p:nvSpPr>
        <p:spPr>
          <a:xfrm>
            <a:off x="1289500" y="1550300"/>
            <a:ext cx="6211678" cy="1965823"/>
          </a:xfrm>
          <a:custGeom>
            <a:avLst/>
            <a:gdLst/>
            <a:ahLst/>
            <a:cxnLst/>
            <a:rect l="l" t="t" r="r" b="b"/>
            <a:pathLst>
              <a:path w="6211678" h="1965823">
                <a:moveTo>
                  <a:pt x="0" y="0"/>
                </a:moveTo>
                <a:lnTo>
                  <a:pt x="6211678" y="0"/>
                </a:lnTo>
                <a:lnTo>
                  <a:pt x="6211678" y="1965823"/>
                </a:lnTo>
                <a:lnTo>
                  <a:pt x="0" y="1965823"/>
                </a:lnTo>
                <a:lnTo>
                  <a:pt x="0" y="0"/>
                </a:lnTo>
                <a:close/>
              </a:path>
            </a:pathLst>
          </a:custGeom>
          <a:blipFill>
            <a:blip r:embed="rId3"/>
            <a:stretch>
              <a:fillRect l="-5159" t="-10318" r="-5159"/>
            </a:stretch>
          </a:blipFill>
        </p:spPr>
      </p:sp>
      <p:sp>
        <p:nvSpPr>
          <p:cNvPr id="4" name="Freeform 4"/>
          <p:cNvSpPr/>
          <p:nvPr/>
        </p:nvSpPr>
        <p:spPr>
          <a:xfrm>
            <a:off x="1289500" y="4224862"/>
            <a:ext cx="6211678" cy="1965823"/>
          </a:xfrm>
          <a:custGeom>
            <a:avLst/>
            <a:gdLst/>
            <a:ahLst/>
            <a:cxnLst/>
            <a:rect l="l" t="t" r="r" b="b"/>
            <a:pathLst>
              <a:path w="6211678" h="1965823">
                <a:moveTo>
                  <a:pt x="0" y="0"/>
                </a:moveTo>
                <a:lnTo>
                  <a:pt x="6211678" y="0"/>
                </a:lnTo>
                <a:lnTo>
                  <a:pt x="6211678" y="1965823"/>
                </a:lnTo>
                <a:lnTo>
                  <a:pt x="0" y="1965823"/>
                </a:lnTo>
                <a:lnTo>
                  <a:pt x="0" y="0"/>
                </a:lnTo>
                <a:close/>
              </a:path>
            </a:pathLst>
          </a:custGeom>
          <a:blipFill>
            <a:blip r:embed="rId3"/>
            <a:stretch>
              <a:fillRect l="-5159" t="-10318" r="-5159"/>
            </a:stretch>
          </a:blipFill>
        </p:spPr>
      </p:sp>
      <p:sp>
        <p:nvSpPr>
          <p:cNvPr id="5" name="Freeform 5"/>
          <p:cNvSpPr/>
          <p:nvPr/>
        </p:nvSpPr>
        <p:spPr>
          <a:xfrm>
            <a:off x="1289500" y="6899423"/>
            <a:ext cx="6211678" cy="1965823"/>
          </a:xfrm>
          <a:custGeom>
            <a:avLst/>
            <a:gdLst/>
            <a:ahLst/>
            <a:cxnLst/>
            <a:rect l="l" t="t" r="r" b="b"/>
            <a:pathLst>
              <a:path w="6211678" h="1965823">
                <a:moveTo>
                  <a:pt x="0" y="0"/>
                </a:moveTo>
                <a:lnTo>
                  <a:pt x="6211678" y="0"/>
                </a:lnTo>
                <a:lnTo>
                  <a:pt x="6211678" y="1965823"/>
                </a:lnTo>
                <a:lnTo>
                  <a:pt x="0" y="1965823"/>
                </a:lnTo>
                <a:lnTo>
                  <a:pt x="0" y="0"/>
                </a:lnTo>
                <a:close/>
              </a:path>
            </a:pathLst>
          </a:custGeom>
          <a:blipFill>
            <a:blip r:embed="rId3"/>
            <a:stretch>
              <a:fillRect l="-5159" t="-10318" r="-5159"/>
            </a:stretch>
          </a:blipFill>
        </p:spPr>
      </p:sp>
      <p:sp>
        <p:nvSpPr>
          <p:cNvPr id="6" name="TextBox 6"/>
          <p:cNvSpPr txBox="1"/>
          <p:nvPr/>
        </p:nvSpPr>
        <p:spPr>
          <a:xfrm>
            <a:off x="6144347" y="49477"/>
            <a:ext cx="3953669" cy="1034098"/>
          </a:xfrm>
          <a:prstGeom prst="rect">
            <a:avLst/>
          </a:prstGeom>
        </p:spPr>
        <p:txBody>
          <a:bodyPr lIns="0" tIns="0" rIns="0" bIns="0" rtlCol="0" anchor="t">
            <a:spAutoFit/>
          </a:bodyPr>
          <a:lstStyle/>
          <a:p>
            <a:pPr algn="ctr">
              <a:lnSpc>
                <a:spcPts val="8312"/>
              </a:lnSpc>
              <a:spcBef>
                <a:spcPct val="0"/>
              </a:spcBef>
            </a:pPr>
            <a:r>
              <a:rPr lang="en-US" sz="6649" b="1">
                <a:solidFill>
                  <a:srgbClr val="000000"/>
                </a:solidFill>
                <a:latin typeface="Roboto Slab Bold"/>
                <a:ea typeface="Roboto Slab Bold"/>
                <a:cs typeface="Roboto Slab Bold"/>
                <a:sym typeface="Roboto Slab Bold"/>
              </a:rPr>
              <a:t>Our Team</a:t>
            </a:r>
          </a:p>
        </p:txBody>
      </p:sp>
      <p:sp>
        <p:nvSpPr>
          <p:cNvPr id="7" name="TextBox 7"/>
          <p:cNvSpPr txBox="1"/>
          <p:nvPr/>
        </p:nvSpPr>
        <p:spPr>
          <a:xfrm>
            <a:off x="1289500" y="2037882"/>
            <a:ext cx="6211678" cy="832803"/>
          </a:xfrm>
          <a:prstGeom prst="rect">
            <a:avLst/>
          </a:prstGeom>
        </p:spPr>
        <p:txBody>
          <a:bodyPr lIns="0" tIns="0" rIns="0" bIns="0" rtlCol="0" anchor="t">
            <a:spAutoFit/>
          </a:bodyPr>
          <a:lstStyle/>
          <a:p>
            <a:pPr algn="ctr">
              <a:lnSpc>
                <a:spcPts val="6687"/>
              </a:lnSpc>
              <a:spcBef>
                <a:spcPct val="0"/>
              </a:spcBef>
            </a:pPr>
            <a:r>
              <a:rPr lang="en-US" sz="5349">
                <a:solidFill>
                  <a:srgbClr val="000000"/>
                </a:solidFill>
                <a:latin typeface="Roboto Slab"/>
                <a:ea typeface="Roboto Slab"/>
                <a:cs typeface="Roboto Slab"/>
                <a:sym typeface="Roboto Slab"/>
              </a:rPr>
              <a:t>Satyam Singhal</a:t>
            </a:r>
          </a:p>
        </p:txBody>
      </p:sp>
      <p:sp>
        <p:nvSpPr>
          <p:cNvPr id="8" name="TextBox 8"/>
          <p:cNvSpPr txBox="1"/>
          <p:nvPr/>
        </p:nvSpPr>
        <p:spPr>
          <a:xfrm>
            <a:off x="1289500" y="4781847"/>
            <a:ext cx="6211678" cy="832803"/>
          </a:xfrm>
          <a:prstGeom prst="rect">
            <a:avLst/>
          </a:prstGeom>
        </p:spPr>
        <p:txBody>
          <a:bodyPr lIns="0" tIns="0" rIns="0" bIns="0" rtlCol="0" anchor="t">
            <a:spAutoFit/>
          </a:bodyPr>
          <a:lstStyle/>
          <a:p>
            <a:pPr algn="ctr">
              <a:lnSpc>
                <a:spcPts val="6687"/>
              </a:lnSpc>
              <a:spcBef>
                <a:spcPct val="0"/>
              </a:spcBef>
            </a:pPr>
            <a:r>
              <a:rPr lang="en-US" sz="5349">
                <a:solidFill>
                  <a:srgbClr val="000000"/>
                </a:solidFill>
                <a:latin typeface="Roboto Slab"/>
                <a:ea typeface="Roboto Slab"/>
                <a:cs typeface="Roboto Slab"/>
                <a:sym typeface="Roboto Slab"/>
              </a:rPr>
              <a:t>Ujjwal Dwivedi</a:t>
            </a:r>
          </a:p>
        </p:txBody>
      </p:sp>
      <p:sp>
        <p:nvSpPr>
          <p:cNvPr id="9" name="TextBox 9"/>
          <p:cNvSpPr txBox="1"/>
          <p:nvPr/>
        </p:nvSpPr>
        <p:spPr>
          <a:xfrm>
            <a:off x="1289500" y="7525812"/>
            <a:ext cx="6211678" cy="832803"/>
          </a:xfrm>
          <a:prstGeom prst="rect">
            <a:avLst/>
          </a:prstGeom>
        </p:spPr>
        <p:txBody>
          <a:bodyPr lIns="0" tIns="0" rIns="0" bIns="0" rtlCol="0" anchor="t">
            <a:spAutoFit/>
          </a:bodyPr>
          <a:lstStyle/>
          <a:p>
            <a:pPr algn="ctr">
              <a:lnSpc>
                <a:spcPts val="6687"/>
              </a:lnSpc>
              <a:spcBef>
                <a:spcPct val="0"/>
              </a:spcBef>
            </a:pPr>
            <a:r>
              <a:rPr lang="en-US" sz="5349">
                <a:solidFill>
                  <a:srgbClr val="000000"/>
                </a:solidFill>
                <a:latin typeface="Roboto Slab"/>
                <a:ea typeface="Roboto Slab"/>
                <a:cs typeface="Roboto Slab"/>
                <a:sym typeface="Roboto Slab"/>
              </a:rPr>
              <a:t>Rohit Verma</a:t>
            </a:r>
          </a:p>
        </p:txBody>
      </p:sp>
      <p:sp>
        <p:nvSpPr>
          <p:cNvPr id="10" name="Freeform 10"/>
          <p:cNvSpPr/>
          <p:nvPr/>
        </p:nvSpPr>
        <p:spPr>
          <a:xfrm>
            <a:off x="10610329" y="7882335"/>
            <a:ext cx="5810911" cy="1838991"/>
          </a:xfrm>
          <a:custGeom>
            <a:avLst/>
            <a:gdLst/>
            <a:ahLst/>
            <a:cxnLst/>
            <a:rect l="l" t="t" r="r" b="b"/>
            <a:pathLst>
              <a:path w="5810911" h="1838991">
                <a:moveTo>
                  <a:pt x="0" y="0"/>
                </a:moveTo>
                <a:lnTo>
                  <a:pt x="5810911" y="0"/>
                </a:lnTo>
                <a:lnTo>
                  <a:pt x="5810911" y="1838991"/>
                </a:lnTo>
                <a:lnTo>
                  <a:pt x="0" y="1838991"/>
                </a:lnTo>
                <a:lnTo>
                  <a:pt x="0" y="0"/>
                </a:lnTo>
                <a:close/>
              </a:path>
            </a:pathLst>
          </a:custGeom>
          <a:blipFill>
            <a:blip r:embed="rId3"/>
            <a:stretch>
              <a:fillRect l="-5159" t="-10318" r="-5159"/>
            </a:stretch>
          </a:blipFill>
        </p:spPr>
      </p:sp>
      <p:sp>
        <p:nvSpPr>
          <p:cNvPr id="11" name="TextBox 11"/>
          <p:cNvSpPr txBox="1"/>
          <p:nvPr/>
        </p:nvSpPr>
        <p:spPr>
          <a:xfrm>
            <a:off x="10409946" y="7932688"/>
            <a:ext cx="6211678" cy="832803"/>
          </a:xfrm>
          <a:prstGeom prst="rect">
            <a:avLst/>
          </a:prstGeom>
        </p:spPr>
        <p:txBody>
          <a:bodyPr lIns="0" tIns="0" rIns="0" bIns="0" rtlCol="0" anchor="t">
            <a:spAutoFit/>
          </a:bodyPr>
          <a:lstStyle/>
          <a:p>
            <a:pPr algn="ctr">
              <a:lnSpc>
                <a:spcPts val="6687"/>
              </a:lnSpc>
              <a:spcBef>
                <a:spcPct val="0"/>
              </a:spcBef>
            </a:pPr>
            <a:r>
              <a:rPr lang="en-US" sz="5349">
                <a:solidFill>
                  <a:srgbClr val="000000"/>
                </a:solidFill>
                <a:latin typeface="Roboto Slab"/>
                <a:ea typeface="Roboto Slab"/>
                <a:cs typeface="Roboto Slab"/>
                <a:sym typeface="Roboto Slab"/>
              </a:rPr>
              <a:t>Laxman Singh</a:t>
            </a:r>
          </a:p>
        </p:txBody>
      </p:sp>
      <p:sp>
        <p:nvSpPr>
          <p:cNvPr id="12" name="TextBox 12"/>
          <p:cNvSpPr txBox="1"/>
          <p:nvPr/>
        </p:nvSpPr>
        <p:spPr>
          <a:xfrm>
            <a:off x="10209562" y="8773256"/>
            <a:ext cx="6211678" cy="668338"/>
          </a:xfrm>
          <a:prstGeom prst="rect">
            <a:avLst/>
          </a:prstGeom>
        </p:spPr>
        <p:txBody>
          <a:bodyPr lIns="0" tIns="0" rIns="0" bIns="0" rtlCol="0" anchor="t">
            <a:spAutoFit/>
          </a:bodyPr>
          <a:lstStyle/>
          <a:p>
            <a:pPr algn="ctr">
              <a:lnSpc>
                <a:spcPts val="5312"/>
              </a:lnSpc>
              <a:spcBef>
                <a:spcPct val="0"/>
              </a:spcBef>
            </a:pPr>
            <a:r>
              <a:rPr lang="en-US" sz="4249">
                <a:solidFill>
                  <a:srgbClr val="000000"/>
                </a:solidFill>
                <a:latin typeface="Roboto Slab"/>
                <a:ea typeface="Roboto Slab"/>
                <a:cs typeface="Roboto Slab"/>
                <a:sym typeface="Roboto Slab"/>
              </a:rPr>
              <a:t>(Mentor)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ECF2"/>
        </a:solidFill>
        <a:effectLst/>
      </p:bgPr>
    </p:bg>
    <p:spTree>
      <p:nvGrpSpPr>
        <p:cNvPr id="1" name=""/>
        <p:cNvGrpSpPr/>
        <p:nvPr/>
      </p:nvGrpSpPr>
      <p:grpSpPr>
        <a:xfrm>
          <a:off x="0" y="0"/>
          <a:ext cx="0" cy="0"/>
          <a:chOff x="0" y="0"/>
          <a:chExt cx="0" cy="0"/>
        </a:xfrm>
      </p:grpSpPr>
      <p:sp>
        <p:nvSpPr>
          <p:cNvPr id="2" name="Freeform 2"/>
          <p:cNvSpPr/>
          <p:nvPr/>
        </p:nvSpPr>
        <p:spPr>
          <a:xfrm>
            <a:off x="3493371" y="3518944"/>
            <a:ext cx="11301259" cy="3249112"/>
          </a:xfrm>
          <a:custGeom>
            <a:avLst/>
            <a:gdLst/>
            <a:ahLst/>
            <a:cxnLst/>
            <a:rect l="l" t="t" r="r" b="b"/>
            <a:pathLst>
              <a:path w="11301259" h="3249112">
                <a:moveTo>
                  <a:pt x="0" y="0"/>
                </a:moveTo>
                <a:lnTo>
                  <a:pt x="11301258" y="0"/>
                </a:lnTo>
                <a:lnTo>
                  <a:pt x="11301258" y="3249112"/>
                </a:lnTo>
                <a:lnTo>
                  <a:pt x="0" y="3249112"/>
                </a:lnTo>
                <a:lnTo>
                  <a:pt x="0" y="0"/>
                </a:lnTo>
                <a:close/>
              </a:path>
            </a:pathLst>
          </a:custGeom>
          <a:blipFill>
            <a:blip r:embed="rId2"/>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502</Words>
  <Application>Microsoft Office PowerPoint</Application>
  <PresentationFormat>Custom</PresentationFormat>
  <Paragraphs>76</Paragraphs>
  <Slides>16</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Roboto</vt:lpstr>
      <vt:lpstr>Roboto Slab</vt:lpstr>
      <vt:lpstr>Roboto Slab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SCOUT-AI-Powered-Home-Security-for-Real-Time-Protection (1).pptx</dc:title>
  <dc:creator>Satyam Singhal</dc:creator>
  <cp:lastModifiedBy>Ujjwal Dwivedi</cp:lastModifiedBy>
  <cp:revision>3</cp:revision>
  <dcterms:created xsi:type="dcterms:W3CDTF">2006-08-16T00:00:00Z</dcterms:created>
  <dcterms:modified xsi:type="dcterms:W3CDTF">2026-05-05T04:38:35Z</dcterms:modified>
  <dc:identifier>DAGWqAd1SEc</dc:identifier>
</cp:coreProperties>
</file>